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69" r:id="rId20"/>
    <p:sldId id="270" r:id="rId21"/>
    <p:sldId id="271" r:id="rId22"/>
    <p:sldId id="272" r:id="rId23"/>
    <p:sldId id="273" r:id="rId24"/>
    <p:sldId id="274" r:id="rId25"/>
    <p:sldId id="275" r:id="rId19"/>
    <p:sldId id="276" r:id="rId18"/>
    <p:sldId id="277" r:id="rId17"/>
    <p:sldId id="278" r:id="rId16"/>
    <p:sldId id="27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5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24.xml"/><Relationship Id="rId16" Type="http://schemas.openxmlformats.org/officeDocument/2006/relationships/slide" Target="slides/slide23.xml"/><Relationship Id="rId17" Type="http://schemas.openxmlformats.org/officeDocument/2006/relationships/slide" Target="slides/slide22.xml"/><Relationship Id="rId18" Type="http://schemas.openxmlformats.org/officeDocument/2006/relationships/slide" Target="slides/slide21.xml"/><Relationship Id="rId19" Type="http://schemas.openxmlformats.org/officeDocument/2006/relationships/slide" Target="slides/slide20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1649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658368" y="7772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NexaMart Enterprise Data Warehouse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157276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Milestone 2 · Assignment 4 · Group Arif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4944" y="1993392"/>
            <a:ext cx="1874520" cy="320040"/>
          </a:xfrm>
          <a:prstGeom prst="roundRect">
            <a:avLst>
              <a:gd name="adj" fmla="val 34286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40664" y="2071116"/>
            <a:ext cx="1783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12 slides + appendix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88920" y="1993392"/>
            <a:ext cx="2148840" cy="320040"/>
          </a:xfrm>
          <a:prstGeom prst="roundRect">
            <a:avLst>
              <a:gd name="adj" fmla="val 34286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843605" y="2071116"/>
            <a:ext cx="2057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30-35  min + Q/A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138928" y="1993392"/>
            <a:ext cx="2121408" cy="320040"/>
          </a:xfrm>
          <a:prstGeom prst="roundRect">
            <a:avLst>
              <a:gd name="adj" fmla="val 34286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184648" y="2071116"/>
            <a:ext cx="2029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Every member speaks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4944" y="2743200"/>
            <a:ext cx="51206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68680" y="2999232"/>
            <a:ext cx="1508760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14400" y="303580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Name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2377440" y="2999232"/>
            <a:ext cx="822960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2423160" y="30358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 No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3200400" y="2999232"/>
            <a:ext cx="1600200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246120" y="303580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 Role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4800600" y="2999232"/>
            <a:ext cx="841248" cy="320040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0" y="303580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Completion %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868680" y="331927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14400" y="335584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Muhammad Arif Rubbani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2377440" y="331927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423160" y="335584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L1F22BSDS0010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3200400" y="331927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246120" y="335584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Lead — warehouse build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4800600" y="331927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4846320" y="335584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868680" y="363931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14400" y="367588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Khallad Ahmad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377440" y="363931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423160" y="367588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L1F22BSDS0020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3200400" y="363931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246120" y="367588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Identity &amp; GMV model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4800600" y="363931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46320" y="367588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868680" y="395935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14400" y="399592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Sameen Fatima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377440" y="395935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2423160" y="399592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L1F21BSDS0004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3200400" y="395935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246120" y="39959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Product master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4800600" y="395935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846320" y="399592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47" name="Shape 45"/>
          <p:cNvSpPr/>
          <p:nvPr/>
        </p:nvSpPr>
        <p:spPr>
          <a:xfrm>
            <a:off x="868680" y="427939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914400" y="431596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Asad Ali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2377440" y="427939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2423160" y="43159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L1F22BSDS0030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3200400" y="427939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3246120" y="431596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Inventory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4800600" y="427939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4846320" y="431596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868680" y="459943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914400" y="463600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Hamza Asim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377440" y="459943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2423160" y="46360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L1F22BSDS0031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200400" y="459943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3246120" y="463600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Sales &amp; returns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4800600" y="459943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4846320" y="463600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868680" y="4919472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914400" y="495604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Azhar Sajjad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2377440" y="4919472"/>
            <a:ext cx="8229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2423160" y="495604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L1F22BSDS0021</a:t>
            </a:r>
            <a:endParaRPr lang="en-US" sz="760" dirty="0"/>
          </a:p>
        </p:txBody>
      </p:sp>
      <p:sp>
        <p:nvSpPr>
          <p:cNvPr id="67" name="Shape 65"/>
          <p:cNvSpPr/>
          <p:nvPr/>
        </p:nvSpPr>
        <p:spPr>
          <a:xfrm>
            <a:off x="3200400" y="4919472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3246120" y="495604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Reviews &amp; marketplace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4800600" y="4919472"/>
            <a:ext cx="841248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4846320" y="4956048"/>
            <a:ext cx="749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7315200" y="960120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7461504" y="1133856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43E"/>
                </a:solidFill>
              </a:rPr>
              <a:t>Source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9034272" y="1536192"/>
            <a:ext cx="0" cy="164592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315200" y="1764792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7461504" y="1938528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43E"/>
                </a:solidFill>
              </a:rPr>
              <a:t>Pipeline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9034272" y="2340864"/>
            <a:ext cx="0" cy="164592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7315200" y="2569464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FF3E8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7461504" y="2743200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243E"/>
                </a:solidFill>
              </a:rPr>
              <a:t>KPIs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9034272" y="3145536"/>
            <a:ext cx="0" cy="164592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7315200" y="3374136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10243E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7461504" y="3547872"/>
            <a:ext cx="31272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Answer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Every figure traces to a live NEXAMART_MARTS view; supporting screenshots in the evidence appendix.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Business Problem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Explain why a data warehouse was needed before showing technical work.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Business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572768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94360" y="1572768"/>
            <a:ext cx="324612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4088" y="1655064"/>
            <a:ext cx="30266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Main Business Question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740664" y="2048256"/>
            <a:ext cx="2953512" cy="4663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Was the Back-to-School campaign actually successful, or were the numbers misleading?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1536192"/>
            <a:ext cx="1417320" cy="411480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160520" y="157276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Department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5532120" y="1536192"/>
            <a:ext cx="2148840" cy="411480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577840" y="15727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Looked Wrong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680960" y="1536192"/>
            <a:ext cx="3749040" cy="411480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726680" y="157276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Explanation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114800" y="194767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160520" y="198424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5532120" y="194767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577840" y="198424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looked high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7680960" y="194767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726680" y="198424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 + A4: ₹0.41 Cr cancelled &amp; ₹1.72 Cr seller-sold over-counted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0" y="235915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160520" y="239572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5532120" y="235915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577840" y="239572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revenue was lower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7680960" y="235915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726680" y="239572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GSV ₹141.51 Cr → NCR ₹138.35 Cr after leakage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114800" y="277063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160520" y="280720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5532120" y="277063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577840" y="280720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Stock availability unreliable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7680960" y="277063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726680" y="280720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A5/A6 fixed; inventory 99.47% accurate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4114800" y="318211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160520" y="321868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Ecommerce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5532120" y="318211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577840" y="321868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abandonment increased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680960" y="318211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7726680" y="321868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abandonment 41.5%; on-time delivery 54.2%</a:t>
            </a:r>
            <a:endParaRPr lang="en-US" sz="780" dirty="0"/>
          </a:p>
        </p:txBody>
      </p:sp>
      <p:sp>
        <p:nvSpPr>
          <p:cNvPr id="45" name="Shape 43"/>
          <p:cNvSpPr/>
          <p:nvPr/>
        </p:nvSpPr>
        <p:spPr>
          <a:xfrm>
            <a:off x="4114800" y="359359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160520" y="363016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5532120" y="359359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5577840" y="36301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Sold listings not confirmed sales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7680960" y="359359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726680" y="363016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 → ESTIMATED; B6 ₹1.26 Cr ±35%, never in NCR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4114800" y="4005072"/>
            <a:ext cx="1417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160520" y="404164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5532120" y="400507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5577840" y="404164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Complaint volume inflated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7680960" y="4005072"/>
            <a:ext cx="37490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726680" y="4041648"/>
            <a:ext cx="3657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A16: 7 duplicate cases deduped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594360" y="2971800"/>
            <a:ext cx="32461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594360" y="2971800"/>
            <a:ext cx="324612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704088" y="3054096"/>
            <a:ext cx="30266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Presenter Instruction</a:t>
            </a:r>
            <a:endParaRPr lang="en-US" sz="920" dirty="0"/>
          </a:p>
        </p:txBody>
      </p:sp>
      <p:sp>
        <p:nvSpPr>
          <p:cNvPr id="60" name="Text 58"/>
          <p:cNvSpPr/>
          <p:nvPr/>
        </p:nvSpPr>
        <p:spPr>
          <a:xfrm>
            <a:off x="740664" y="3447288"/>
            <a:ext cx="2953512" cy="6949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Do not start with code. Start with the business confusion and why different departments reported different answers.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4360" y="4526280"/>
            <a:ext cx="10835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594360" y="4526280"/>
            <a:ext cx="1083564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04088" y="4608576"/>
            <a:ext cx="10616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Expected Speaking Point</a:t>
            </a:r>
            <a:endParaRPr lang="en-US" sz="920" dirty="0"/>
          </a:p>
        </p:txBody>
      </p:sp>
      <p:sp>
        <p:nvSpPr>
          <p:cNvPr id="64" name="Text 62"/>
          <p:cNvSpPr/>
          <p:nvPr/>
        </p:nvSpPr>
        <p:spPr>
          <a:xfrm>
            <a:off x="740664" y="5001768"/>
            <a:ext cx="10543032" cy="5577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Our presentation will prove what we built, which anomalies we found, how we solved them, and what the BI dashboard says about the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Overall Architecture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Show the end-to-end flow from source data to dashboard.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Pipeline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76072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SQLite Source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576072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Operational data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039112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185416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258568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Databricks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2258568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PySpark processing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3721608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867912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41064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Bronze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3941064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Raw layer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404104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550408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623560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Silver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623560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Clean + flagged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7086600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232904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306056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Gold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7306056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Kimball model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769096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8915400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6FAFA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988552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Snowflake Marts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8988552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KPI views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10451592" y="2304288"/>
            <a:ext cx="118872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10597896" y="18288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EAF2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10671048" y="1993392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10243E"/>
                </a:solidFill>
              </a:rPr>
              <a:t>Power BI/Tableau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10671048" y="2350008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475569"/>
                </a:solidFill>
              </a:rPr>
              <a:t>Business dashboard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685800" y="3273552"/>
            <a:ext cx="1463040" cy="335280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331012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148840" y="3273552"/>
            <a:ext cx="3657600" cy="335280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194560" y="331012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806440" y="3273552"/>
            <a:ext cx="5715000" cy="335280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5852160" y="331012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Evidence to Show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5800" y="360883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31520" y="364540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Bronze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148840" y="360883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2194560" y="364540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data loaded without transformation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806440" y="360883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5852160" y="364540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Snowsight: 61 tables, 843,304 rows (E1)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85800" y="394411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731520" y="398068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148840" y="394411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2194560" y="398068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Cleaning, standardization, anomaly flagging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806440" y="394411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5852160" y="398068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05/06 notebooks; anomaly_flag counts (E2/E3)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85800" y="427939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731520" y="431596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148840" y="427939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2194560" y="431596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dimensions + 14 facts using Kimball design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806440" y="427939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5852160" y="431596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tables = 13 dims + 14 facts; grain check (E1/E4)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685800" y="461467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731520" y="465124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148840" y="461467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2194560" y="465124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views for stakeholder reporting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806440" y="461467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5852160" y="465124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kpi_views.sql — 28 views (E5)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85800" y="4949952"/>
            <a:ext cx="146304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731520" y="4986528"/>
            <a:ext cx="137160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 Dashboard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148840" y="4949952"/>
            <a:ext cx="36576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2194560" y="4986528"/>
            <a:ext cx="35661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analysis and final decision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806440" y="4949952"/>
            <a:ext cx="5715000" cy="335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5852160" y="4986528"/>
            <a:ext cx="56235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Power BI pages + funnel (E6)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Built on NEXAMART_DW (Snowflake) via Databricks PySpark; the dashboard reads MARTS views only.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3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Assignment 3 / Milestone 1 Completion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Summarize what was completed in Bronze, Silver, and Gold.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Milestone 1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81328"/>
            <a:ext cx="2880360" cy="422453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517904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Work</a:t>
            </a:r>
            <a:endParaRPr lang="en-US" sz="810" dirty="0"/>
          </a:p>
        </p:txBody>
      </p:sp>
      <p:sp>
        <p:nvSpPr>
          <p:cNvPr id="13" name="Shape 11"/>
          <p:cNvSpPr/>
          <p:nvPr/>
        </p:nvSpPr>
        <p:spPr>
          <a:xfrm>
            <a:off x="3474720" y="1481328"/>
            <a:ext cx="1143000" cy="422453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520440" y="1517904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Completed?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4617720" y="1481328"/>
            <a:ext cx="2468880" cy="422453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663440" y="1517904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594360" y="1903781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" y="1940357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Loaded 61 Bronze tables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3474720" y="1903781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520440" y="1940357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4617720" y="1903781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663440" y="1940357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61 tables, 843,304 rows (E1)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594360" y="2326234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2362810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Silver notebooks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3474720" y="2326234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520440" y="2362810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4617720" y="2326234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663440" y="2362810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02_silver_* (8 notebooks)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748686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0080" y="2785262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Standardized dates and statuses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3474720" y="2748686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520440" y="2785262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4617720" y="2748686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663440" y="2785262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date/status normalization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594360" y="3171139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207715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surrogate keys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3474720" y="3171139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520440" y="3207715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4617720" y="3171139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663440" y="3207715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surrogate keys on dims/facts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594360" y="3593592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" y="3630168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13 dimensions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3474720" y="3593592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520440" y="3630168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4617720" y="3593592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663440" y="3630168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dims in NEXAMART_GOLD (E1)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594360" y="4016045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0080" y="4052621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14 fact tables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3474720" y="4016045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3520440" y="4052621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4617720" y="4016045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663440" y="4052621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facts in NEXAMART_GOLD (E1)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594360" y="4438498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40080" y="4475074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Bus Matrix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3474720" y="4438498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520440" y="4475074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57" name="Shape 55"/>
          <p:cNvSpPr/>
          <p:nvPr/>
        </p:nvSpPr>
        <p:spPr>
          <a:xfrm>
            <a:off x="4617720" y="4438498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4663440" y="4475074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docs/bus_matrix.md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594360" y="4860950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40080" y="4897526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Declared fact grains</a:t>
            </a:r>
            <a:endParaRPr lang="en-US" sz="810" dirty="0"/>
          </a:p>
        </p:txBody>
      </p:sp>
      <p:sp>
        <p:nvSpPr>
          <p:cNvPr id="61" name="Shape 59"/>
          <p:cNvSpPr/>
          <p:nvPr/>
        </p:nvSpPr>
        <p:spPr>
          <a:xfrm>
            <a:off x="3474720" y="4860950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520440" y="4897526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63" name="Shape 61"/>
          <p:cNvSpPr/>
          <p:nvPr/>
        </p:nvSpPr>
        <p:spPr>
          <a:xfrm>
            <a:off x="4617720" y="4860950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4663440" y="4897526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grain per fact (report S2)</a:t>
            </a:r>
            <a:endParaRPr lang="en-US" sz="810" dirty="0"/>
          </a:p>
        </p:txBody>
      </p:sp>
      <p:sp>
        <p:nvSpPr>
          <p:cNvPr id="65" name="Shape 63"/>
          <p:cNvSpPr/>
          <p:nvPr/>
        </p:nvSpPr>
        <p:spPr>
          <a:xfrm>
            <a:off x="594360" y="5283403"/>
            <a:ext cx="288036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640080" y="5319979"/>
            <a:ext cx="278892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Flagged anomalies in Silver</a:t>
            </a:r>
            <a:endParaRPr lang="en-US" sz="810" dirty="0"/>
          </a:p>
        </p:txBody>
      </p:sp>
      <p:sp>
        <p:nvSpPr>
          <p:cNvPr id="67" name="Shape 65"/>
          <p:cNvSpPr/>
          <p:nvPr/>
        </p:nvSpPr>
        <p:spPr>
          <a:xfrm>
            <a:off x="3474720" y="5283403"/>
            <a:ext cx="114300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3520440" y="5319979"/>
            <a:ext cx="105156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10" dirty="0"/>
          </a:p>
        </p:txBody>
      </p:sp>
      <p:sp>
        <p:nvSpPr>
          <p:cNvPr id="69" name="Shape 67"/>
          <p:cNvSpPr/>
          <p:nvPr/>
        </p:nvSpPr>
        <p:spPr>
          <a:xfrm>
            <a:off x="4617720" y="5283403"/>
            <a:ext cx="2468880" cy="422453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4663440" y="5319979"/>
            <a:ext cx="2377440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anomaly_flag on Silver (E2)</a:t>
            </a:r>
            <a:endParaRPr lang="en-US" sz="810" dirty="0"/>
          </a:p>
        </p:txBody>
      </p:sp>
      <p:sp>
        <p:nvSpPr>
          <p:cNvPr id="71" name="Shape 69"/>
          <p:cNvSpPr/>
          <p:nvPr/>
        </p:nvSpPr>
        <p:spPr>
          <a:xfrm>
            <a:off x="7452360" y="1508760"/>
            <a:ext cx="39776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524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7452360" y="1508760"/>
            <a:ext cx="3977640" cy="3474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7562088" y="159105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Required Message</a:t>
            </a:r>
            <a:endParaRPr lang="en-US" sz="920" dirty="0"/>
          </a:p>
        </p:txBody>
      </p:sp>
      <p:sp>
        <p:nvSpPr>
          <p:cNvPr id="74" name="Text 72"/>
          <p:cNvSpPr/>
          <p:nvPr/>
        </p:nvSpPr>
        <p:spPr>
          <a:xfrm>
            <a:off x="7598664" y="1984248"/>
            <a:ext cx="3685032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Milestone 1 builds the warehouse and preserves anomalies in Silver. Do not claim anomalies were solved in Assignment 3.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452360" y="28346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7452360" y="2834640"/>
            <a:ext cx="397764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562088" y="291693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Strong Evidence</a:t>
            </a:r>
            <a:endParaRPr lang="en-US" sz="920" dirty="0"/>
          </a:p>
        </p:txBody>
      </p:sp>
      <p:sp>
        <p:nvSpPr>
          <p:cNvPr id="78" name="Text 76"/>
          <p:cNvSpPr/>
          <p:nvPr/>
        </p:nvSpPr>
        <p:spPr>
          <a:xfrm>
            <a:off x="7598664" y="3310128"/>
            <a:ext cx="3685032" cy="5577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Show row counts, notebook runs, Snowflake schemas, Bus Matrix, grain declarations, and anomaly flag counts.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7452360" y="4224528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7452360" y="4224528"/>
            <a:ext cx="39776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7562088" y="4306824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Weak Evidence</a:t>
            </a:r>
            <a:endParaRPr lang="en-US" sz="920" dirty="0"/>
          </a:p>
        </p:txBody>
      </p:sp>
      <p:sp>
        <p:nvSpPr>
          <p:cNvPr id="82" name="Text 80"/>
          <p:cNvSpPr/>
          <p:nvPr/>
        </p:nvSpPr>
        <p:spPr>
          <a:xfrm>
            <a:off x="7598664" y="4700016"/>
            <a:ext cx="3685032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Only saying "we completed it" without screenshots, files, or query outputs is not acceptable.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4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Assignment 4 / Milestone 2 Completion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Summarize anomaly resolution, validation, KPI views, and dashboard work.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Milestone 2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81328"/>
            <a:ext cx="2788920" cy="431800"/>
          </a:xfrm>
          <a:prstGeom prst="rect">
            <a:avLst/>
          </a:prstGeom>
          <a:solidFill>
            <a:srgbClr val="00A6A6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5179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Work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383280" y="1481328"/>
            <a:ext cx="1143000" cy="431800"/>
          </a:xfrm>
          <a:prstGeom prst="rect">
            <a:avLst/>
          </a:prstGeom>
          <a:solidFill>
            <a:srgbClr val="00A6A6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429000" y="15179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Completed?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526280" y="1481328"/>
            <a:ext cx="2606040" cy="431800"/>
          </a:xfrm>
          <a:prstGeom prst="rect">
            <a:avLst/>
          </a:prstGeom>
          <a:solidFill>
            <a:srgbClr val="00A6A6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5179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594360" y="19131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0080" y="19497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anomaly identification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3383280" y="19131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429000" y="19497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4526280" y="19131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572000" y="19497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anomaly_discovery.sql (E2)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94360" y="23449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23815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PySpark anomaly resolution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383280" y="23449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429000" y="23815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526280" y="23449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572000" y="23815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05_anomaly_resolution.ipynb (E3)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594360" y="27767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40080" y="28133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 Silver tables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3383280" y="27767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429000" y="28133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526280" y="27767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572000" y="28133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 Silver (E2/E3)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94360" y="32085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2451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Rebuilt affected Gold tables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3383280" y="32085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3429000" y="32451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4526280" y="32085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572000" y="32451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facts rebuilt, Δ0 (E4)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>
            <a:off x="594360" y="36403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" y="36769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 validation suite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3383280" y="36403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429000" y="36769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45" name="Shape 43"/>
          <p:cNvSpPr/>
          <p:nvPr/>
        </p:nvSpPr>
        <p:spPr>
          <a:xfrm>
            <a:off x="4526280" y="36403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72000" y="36769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validation_suite.sql 9/10 (E4)</a:t>
            </a:r>
            <a:endParaRPr lang="en-US" sz="830" dirty="0"/>
          </a:p>
        </p:txBody>
      </p:sp>
      <p:sp>
        <p:nvSpPr>
          <p:cNvPr id="47" name="Shape 45"/>
          <p:cNvSpPr/>
          <p:nvPr/>
        </p:nvSpPr>
        <p:spPr>
          <a:xfrm>
            <a:off x="594360" y="40721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0080" y="41087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Created KPI views</a:t>
            </a:r>
            <a:endParaRPr lang="en-US" sz="830" dirty="0"/>
          </a:p>
        </p:txBody>
      </p:sp>
      <p:sp>
        <p:nvSpPr>
          <p:cNvPr id="49" name="Shape 47"/>
          <p:cNvSpPr/>
          <p:nvPr/>
        </p:nvSpPr>
        <p:spPr>
          <a:xfrm>
            <a:off x="3383280" y="40721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3429000" y="41087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51" name="Shape 49"/>
          <p:cNvSpPr/>
          <p:nvPr/>
        </p:nvSpPr>
        <p:spPr>
          <a:xfrm>
            <a:off x="4526280" y="40721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572000" y="41087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kpi_views.sql — 28 views (E5)</a:t>
            </a:r>
            <a:endParaRPr lang="en-US" sz="830" dirty="0"/>
          </a:p>
        </p:txBody>
      </p:sp>
      <p:sp>
        <p:nvSpPr>
          <p:cNvPr id="53" name="Shape 51"/>
          <p:cNvSpPr/>
          <p:nvPr/>
        </p:nvSpPr>
        <p:spPr>
          <a:xfrm>
            <a:off x="594360" y="45039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640080" y="45405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BI dashboard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>
            <a:off x="3383280" y="45039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429000" y="45405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57" name="Shape 55"/>
          <p:cNvSpPr/>
          <p:nvPr/>
        </p:nvSpPr>
        <p:spPr>
          <a:xfrm>
            <a:off x="4526280" y="45039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4572000" y="45405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nexamart_dashboard.pbix + PNGs (E6)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594360" y="4935728"/>
            <a:ext cx="278892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40080" y="4972304"/>
            <a:ext cx="269748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campaign conclusion</a:t>
            </a:r>
            <a:endParaRPr lang="en-US" sz="830" dirty="0"/>
          </a:p>
        </p:txBody>
      </p:sp>
      <p:sp>
        <p:nvSpPr>
          <p:cNvPr id="61" name="Shape 59"/>
          <p:cNvSpPr/>
          <p:nvPr/>
        </p:nvSpPr>
        <p:spPr>
          <a:xfrm>
            <a:off x="3383280" y="4935728"/>
            <a:ext cx="114300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429000" y="4972304"/>
            <a:ext cx="105156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830" dirty="0"/>
          </a:p>
        </p:txBody>
      </p:sp>
      <p:sp>
        <p:nvSpPr>
          <p:cNvPr id="63" name="Shape 61"/>
          <p:cNvSpPr/>
          <p:nvPr/>
        </p:nvSpPr>
        <p:spPr>
          <a:xfrm>
            <a:off x="4526280" y="4935728"/>
            <a:ext cx="2606040" cy="431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4572000" y="4972304"/>
            <a:ext cx="2514600" cy="358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S5 + dashboard (E6)</a:t>
            </a:r>
            <a:endParaRPr lang="en-US" sz="830" dirty="0"/>
          </a:p>
        </p:txBody>
      </p:sp>
      <p:sp>
        <p:nvSpPr>
          <p:cNvPr id="65" name="Shape 63"/>
          <p:cNvSpPr/>
          <p:nvPr/>
        </p:nvSpPr>
        <p:spPr>
          <a:xfrm>
            <a:off x="7452360" y="1627632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7452360" y="1627632"/>
            <a:ext cx="397764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5"/>
          <p:cNvSpPr/>
          <p:nvPr/>
        </p:nvSpPr>
        <p:spPr>
          <a:xfrm>
            <a:off x="7562088" y="1709928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Mandatory Flow</a:t>
            </a:r>
            <a:endParaRPr lang="en-US" sz="920" dirty="0"/>
          </a:p>
        </p:txBody>
      </p:sp>
      <p:sp>
        <p:nvSpPr>
          <p:cNvPr id="68" name="Text 66"/>
          <p:cNvSpPr/>
          <p:nvPr/>
        </p:nvSpPr>
        <p:spPr>
          <a:xfrm>
            <a:off x="7598664" y="2103120"/>
            <a:ext cx="3685032" cy="4663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Identify in Snowflake SQL -&gt; Fix in Databricks PySpark -&gt; Rebuild Gold -&gt; Validate -&gt; Analyze BI dashboard.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7452360" y="30632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7452360" y="3063240"/>
            <a:ext cx="39776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9"/>
          <p:cNvSpPr/>
          <p:nvPr/>
        </p:nvSpPr>
        <p:spPr>
          <a:xfrm>
            <a:off x="7562088" y="314553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Student Must Say</a:t>
            </a:r>
            <a:endParaRPr lang="en-US" sz="920" dirty="0"/>
          </a:p>
        </p:txBody>
      </p:sp>
      <p:sp>
        <p:nvSpPr>
          <p:cNvPr id="72" name="Text 70"/>
          <p:cNvSpPr/>
          <p:nvPr/>
        </p:nvSpPr>
        <p:spPr>
          <a:xfrm>
            <a:off x="7598664" y="3538728"/>
            <a:ext cx="3685032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anomalies were resolved, which tables changed, and which KPI values changed after the rebuild.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452360" y="44348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452360" y="4434840"/>
            <a:ext cx="397764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7562088" y="4517136"/>
            <a:ext cx="3758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Evidence Rule</a:t>
            </a:r>
            <a:endParaRPr lang="en-US" sz="920" dirty="0"/>
          </a:p>
        </p:txBody>
      </p:sp>
      <p:sp>
        <p:nvSpPr>
          <p:cNvPr id="76" name="Text 74"/>
          <p:cNvSpPr/>
          <p:nvPr/>
        </p:nvSpPr>
        <p:spPr>
          <a:xfrm>
            <a:off x="7598664" y="4910328"/>
            <a:ext cx="36850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Every claim must be linked to a screenshot, query result, notebook output, or dashboard page.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Anomalies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Anomalies Found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List actual anomalies found by your group and their business impact.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Anomaly List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02920" y="1435608"/>
            <a:ext cx="596796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1472184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</a:t>
            </a:r>
            <a:endParaRPr lang="en-US" sz="810" dirty="0"/>
          </a:p>
        </p:txBody>
      </p:sp>
      <p:sp>
        <p:nvSpPr>
          <p:cNvPr id="13" name="Shape 11"/>
          <p:cNvSpPr/>
          <p:nvPr/>
        </p:nvSpPr>
        <p:spPr>
          <a:xfrm>
            <a:off x="1099716" y="1435608"/>
            <a:ext cx="2938072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45436" y="1472184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 Name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4037788" y="1435608"/>
            <a:ext cx="780425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083508" y="1472184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4818213" y="1435608"/>
            <a:ext cx="2341276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863933" y="1472184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System/Table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7159490" y="1435608"/>
            <a:ext cx="4544830" cy="646611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205210" y="1472184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Impact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502920" y="2082219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2118795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1099716" y="2082219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145436" y="2118795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order counted in revenue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4037788" y="2082219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083508" y="2118795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4818213" y="2082219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863933" y="2118795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Ecommerce / revenue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7159490" y="2082219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05210" y="2118795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₹0.41 Cr removed (94 orders) · M5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502920" y="2728831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48640" y="2765407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A3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1099716" y="2728831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1145436" y="2765407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Mixed tax bases (POS incl vs EC excl)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4037788" y="2728831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083508" y="2765407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4818213" y="2728831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4863933" y="2765407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 / ecommerce / marketplace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7159490" y="2728831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205210" y="2765407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₹16.25 Cr on one basis · M5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502920" y="3375442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48640" y="3412018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1099716" y="3375442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145436" y="3412018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sold counted as confirmed revenue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4037788" y="3375442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083508" y="3412018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4818213" y="3375442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863933" y="3412018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7159490" y="3375442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205210" y="3412018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₹1.72 Cr → ESTIMATED (449) · M6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502920" y="4022054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48640" y="4058630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A6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1099716" y="4022054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145436" y="4058630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store inventory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4037788" y="4022054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083508" y="4058630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57" name="Shape 55"/>
          <p:cNvSpPr/>
          <p:nvPr/>
        </p:nvSpPr>
        <p:spPr>
          <a:xfrm>
            <a:off x="4818213" y="4022054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4863933" y="4058630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7159490" y="4022054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205210" y="4058630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rows → 0; oversell flag · M4</a:t>
            </a:r>
            <a:endParaRPr lang="en-US" sz="810" dirty="0"/>
          </a:p>
        </p:txBody>
      </p:sp>
      <p:sp>
        <p:nvSpPr>
          <p:cNvPr id="61" name="Shape 59"/>
          <p:cNvSpPr/>
          <p:nvPr/>
        </p:nvSpPr>
        <p:spPr>
          <a:xfrm>
            <a:off x="502920" y="4668665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48640" y="4705241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A16</a:t>
            </a:r>
            <a:endParaRPr lang="en-US" sz="810" dirty="0"/>
          </a:p>
        </p:txBody>
      </p:sp>
      <p:sp>
        <p:nvSpPr>
          <p:cNvPr id="63" name="Shape 61"/>
          <p:cNvSpPr/>
          <p:nvPr/>
        </p:nvSpPr>
        <p:spPr>
          <a:xfrm>
            <a:off x="1099716" y="4668665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1145436" y="4705241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 cases</a:t>
            </a:r>
            <a:endParaRPr lang="en-US" sz="810" dirty="0"/>
          </a:p>
        </p:txBody>
      </p:sp>
      <p:sp>
        <p:nvSpPr>
          <p:cNvPr id="65" name="Shape 63"/>
          <p:cNvSpPr/>
          <p:nvPr/>
        </p:nvSpPr>
        <p:spPr>
          <a:xfrm>
            <a:off x="4037788" y="4668665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4083508" y="4705241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10" dirty="0"/>
          </a:p>
        </p:txBody>
      </p:sp>
      <p:sp>
        <p:nvSpPr>
          <p:cNvPr id="67" name="Shape 65"/>
          <p:cNvSpPr/>
          <p:nvPr/>
        </p:nvSpPr>
        <p:spPr>
          <a:xfrm>
            <a:off x="4818213" y="4668665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4863933" y="4705241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support</a:t>
            </a:r>
            <a:endParaRPr lang="en-US" sz="810" dirty="0"/>
          </a:p>
        </p:txBody>
      </p:sp>
      <p:sp>
        <p:nvSpPr>
          <p:cNvPr id="69" name="Shape 67"/>
          <p:cNvSpPr/>
          <p:nvPr/>
        </p:nvSpPr>
        <p:spPr>
          <a:xfrm>
            <a:off x="7159490" y="4668665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7205210" y="4705241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cases deduped · M6</a:t>
            </a:r>
            <a:endParaRPr lang="en-US" sz="810" dirty="0"/>
          </a:p>
        </p:txBody>
      </p:sp>
      <p:sp>
        <p:nvSpPr>
          <p:cNvPr id="71" name="Shape 69"/>
          <p:cNvSpPr/>
          <p:nvPr/>
        </p:nvSpPr>
        <p:spPr>
          <a:xfrm>
            <a:off x="502920" y="5315277"/>
            <a:ext cx="59679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548640" y="5351853"/>
            <a:ext cx="50535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B6</a:t>
            </a:r>
            <a:endParaRPr lang="en-US" sz="810" dirty="0"/>
          </a:p>
        </p:txBody>
      </p:sp>
      <p:sp>
        <p:nvSpPr>
          <p:cNvPr id="73" name="Shape 71"/>
          <p:cNvSpPr/>
          <p:nvPr/>
        </p:nvSpPr>
        <p:spPr>
          <a:xfrm>
            <a:off x="1099716" y="5315277"/>
            <a:ext cx="2938072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1145436" y="5351853"/>
            <a:ext cx="2846632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Classified GMV model</a:t>
            </a:r>
            <a:endParaRPr lang="en-US" sz="810" dirty="0"/>
          </a:p>
        </p:txBody>
      </p:sp>
      <p:sp>
        <p:nvSpPr>
          <p:cNvPr id="75" name="Shape 73"/>
          <p:cNvSpPr/>
          <p:nvPr/>
        </p:nvSpPr>
        <p:spPr>
          <a:xfrm>
            <a:off x="4037788" y="5315277"/>
            <a:ext cx="780425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4083508" y="5351853"/>
            <a:ext cx="688985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10" dirty="0"/>
          </a:p>
        </p:txBody>
      </p:sp>
      <p:sp>
        <p:nvSpPr>
          <p:cNvPr id="77" name="Shape 75"/>
          <p:cNvSpPr/>
          <p:nvPr/>
        </p:nvSpPr>
        <p:spPr>
          <a:xfrm>
            <a:off x="4818213" y="5315277"/>
            <a:ext cx="2341276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4863933" y="5351853"/>
            <a:ext cx="2249836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(vw_estimated_classified_gmv)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7159490" y="5315277"/>
            <a:ext cx="4544830" cy="64661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205210" y="5351853"/>
            <a:ext cx="4453390" cy="573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₹1.26 Cr ±35%, ESTIMATED · M2</a:t>
            </a:r>
            <a:endParaRPr lang="en-US" sz="810" dirty="0"/>
          </a:p>
        </p:txBody>
      </p:sp>
      <p:sp>
        <p:nvSpPr>
          <p:cNvPr id="81" name="Text 79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24 anomalies total: 16 Category A (clear bugs) + 8 Category B (judgment calls, defended).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How We Detected the Anomalies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Explain detection logic, not only anomaly names.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SQL Proof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44752"/>
            <a:ext cx="214884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743200" y="1444752"/>
            <a:ext cx="370332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788920" y="1481328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 Logic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446520" y="1444752"/>
            <a:ext cx="169164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92240" y="1481328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Used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138160" y="1444752"/>
            <a:ext cx="3429000" cy="652272"/>
          </a:xfrm>
          <a:prstGeom prst="rect">
            <a:avLst/>
          </a:prstGeom>
          <a:solidFill>
            <a:srgbClr val="1F5E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183880" y="1481328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to Show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594360" y="2097024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" y="2133600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order in revenue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743200" y="2097024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788920" y="2133600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status='CANCELLED' AND subtotal_excl_tax&gt;0 → 94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446520" y="2097024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92240" y="2133600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Snowflake SQL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8138160" y="2097024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183880" y="2133600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sf_detect_A1 (E2)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594360" y="2749296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" y="2785872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ATP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2743200" y="2749296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788920" y="2785872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sellable_qty&lt;0 OR physical_qty&lt;0 → 8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446520" y="2749296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2785872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/ PySpark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8138160" y="2749296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183880" y="2785872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sf_detect_A6 (E2)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94360" y="3401568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3438144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complaints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2743200" y="3401568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788920" y="3438144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is_duplicate_flag = TRUE → 7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446520" y="3401568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492240" y="3438144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PySpark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138160" y="3401568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183880" y="3438144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sf_detect_A16 / 05 notebook (E2/E3)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594360" y="4053840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0080" y="4090416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false revenue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2743200" y="4053840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2788920" y="4090416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event_type_code='SELLER_SOLD' → 449</a:t>
            </a:r>
            <a:endParaRPr lang="en-US" sz="820" dirty="0"/>
          </a:p>
        </p:txBody>
      </p:sp>
      <p:sp>
        <p:nvSpPr>
          <p:cNvPr id="47" name="Shape 45"/>
          <p:cNvSpPr/>
          <p:nvPr/>
        </p:nvSpPr>
        <p:spPr>
          <a:xfrm>
            <a:off x="6446520" y="4053840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492240" y="4090416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Snowflake SQL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8138160" y="4053840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183880" y="4090416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sf_detect_A4 (E2)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594360" y="4706112"/>
            <a:ext cx="21488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640080" y="4742688"/>
            <a:ext cx="20574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B anomaly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2743200" y="4706112"/>
            <a:ext cx="370332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788920" y="4742688"/>
            <a:ext cx="36118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B6 GMV: weighted signals vs raw seller-sold value</a:t>
            </a:r>
            <a:endParaRPr lang="en-US" sz="820" dirty="0"/>
          </a:p>
        </p:txBody>
      </p:sp>
      <p:sp>
        <p:nvSpPr>
          <p:cNvPr id="55" name="Shape 53"/>
          <p:cNvSpPr/>
          <p:nvPr/>
        </p:nvSpPr>
        <p:spPr>
          <a:xfrm>
            <a:off x="6446520" y="4706112"/>
            <a:ext cx="169164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6492240" y="4742688"/>
            <a:ext cx="16002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+ PySpark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8138160" y="4706112"/>
            <a:ext cx="3429000" cy="652272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8183880" y="4742688"/>
            <a:ext cx="333756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vw_estimated_classified_gmv (E5)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777240" y="5532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777240" y="5532120"/>
            <a:ext cx="333756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9"/>
          <p:cNvSpPr/>
          <p:nvPr/>
        </p:nvSpPr>
        <p:spPr>
          <a:xfrm>
            <a:off x="886968" y="5614416"/>
            <a:ext cx="3118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Must Show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923544" y="6007608"/>
            <a:ext cx="304495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At least one SQL query screenshot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434840" y="5532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4434840" y="5532120"/>
            <a:ext cx="333756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4544568" y="5614416"/>
            <a:ext cx="3118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Must Show</a:t>
            </a:r>
            <a:endParaRPr lang="en-US" sz="920" dirty="0"/>
          </a:p>
        </p:txBody>
      </p:sp>
      <p:sp>
        <p:nvSpPr>
          <p:cNvPr id="66" name="Text 64"/>
          <p:cNvSpPr/>
          <p:nvPr/>
        </p:nvSpPr>
        <p:spPr>
          <a:xfrm>
            <a:off x="4581144" y="6007608"/>
            <a:ext cx="304495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At least one query output screenshot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092440" y="5532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8092440" y="5532120"/>
            <a:ext cx="333756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7"/>
          <p:cNvSpPr/>
          <p:nvPr/>
        </p:nvSpPr>
        <p:spPr>
          <a:xfrm>
            <a:off x="8202168" y="5614416"/>
            <a:ext cx="3118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Must Show</a:t>
            </a:r>
            <a:endParaRPr lang="en-US" sz="920" dirty="0"/>
          </a:p>
        </p:txBody>
      </p:sp>
      <p:sp>
        <p:nvSpPr>
          <p:cNvPr id="70" name="Text 68"/>
          <p:cNvSpPr/>
          <p:nvPr/>
        </p:nvSpPr>
        <p:spPr>
          <a:xfrm>
            <a:off x="8238744" y="6007608"/>
            <a:ext cx="304495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Anomaly flag visible in Silver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How We Solved the Anomalies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Show before, fix logic, after, and validation evidence.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Fix Logic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438912" y="1371600"/>
            <a:ext cx="196596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84632" y="1408176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</a:t>
            </a:r>
            <a:endParaRPr lang="en-US" sz="735" dirty="0"/>
          </a:p>
        </p:txBody>
      </p:sp>
      <p:sp>
        <p:nvSpPr>
          <p:cNvPr id="13" name="Shape 11"/>
          <p:cNvSpPr/>
          <p:nvPr/>
        </p:nvSpPr>
        <p:spPr>
          <a:xfrm>
            <a:off x="2404872" y="1371600"/>
            <a:ext cx="214884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450592" y="1408176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Fix</a:t>
            </a:r>
            <a:endParaRPr lang="en-US" sz="735" dirty="0"/>
          </a:p>
        </p:txBody>
      </p:sp>
      <p:sp>
        <p:nvSpPr>
          <p:cNvPr id="15" name="Shape 13"/>
          <p:cNvSpPr/>
          <p:nvPr/>
        </p:nvSpPr>
        <p:spPr>
          <a:xfrm>
            <a:off x="4553712" y="1371600"/>
            <a:ext cx="251460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99432" y="1408176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Applied</a:t>
            </a:r>
            <a:endParaRPr lang="en-US" sz="735" dirty="0"/>
          </a:p>
        </p:txBody>
      </p:sp>
      <p:sp>
        <p:nvSpPr>
          <p:cNvPr id="17" name="Shape 15"/>
          <p:cNvSpPr/>
          <p:nvPr/>
        </p:nvSpPr>
        <p:spPr>
          <a:xfrm>
            <a:off x="7068312" y="1371600"/>
            <a:ext cx="2240280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114032" y="1408176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Fix</a:t>
            </a:r>
            <a:endParaRPr lang="en-US" sz="735" dirty="0"/>
          </a:p>
        </p:txBody>
      </p:sp>
      <p:sp>
        <p:nvSpPr>
          <p:cNvPr id="19" name="Shape 17"/>
          <p:cNvSpPr/>
          <p:nvPr/>
        </p:nvSpPr>
        <p:spPr>
          <a:xfrm>
            <a:off x="9308592" y="1371600"/>
            <a:ext cx="2450592" cy="734568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354312" y="1408176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735" dirty="0"/>
          </a:p>
        </p:txBody>
      </p:sp>
      <p:sp>
        <p:nvSpPr>
          <p:cNvPr id="21" name="Shape 19"/>
          <p:cNvSpPr/>
          <p:nvPr/>
        </p:nvSpPr>
        <p:spPr>
          <a:xfrm>
            <a:off x="438912" y="2106168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" y="2142744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revenue</a:t>
            </a:r>
            <a:endParaRPr lang="en-US" sz="735" dirty="0"/>
          </a:p>
        </p:txBody>
      </p:sp>
      <p:sp>
        <p:nvSpPr>
          <p:cNvPr id="23" name="Shape 21"/>
          <p:cNvSpPr/>
          <p:nvPr/>
        </p:nvSpPr>
        <p:spPr>
          <a:xfrm>
            <a:off x="2404872" y="2106168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2450592" y="2142744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orders had revenue</a:t>
            </a:r>
            <a:endParaRPr lang="en-US" sz="735" dirty="0"/>
          </a:p>
        </p:txBody>
      </p:sp>
      <p:sp>
        <p:nvSpPr>
          <p:cNvPr id="25" name="Shape 23"/>
          <p:cNvSpPr/>
          <p:nvPr/>
        </p:nvSpPr>
        <p:spPr>
          <a:xfrm>
            <a:off x="4553712" y="2106168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99432" y="2142744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ZEROED_CANCELLED_REVENUE</a:t>
            </a:r>
            <a:endParaRPr lang="en-US" sz="735" dirty="0"/>
          </a:p>
        </p:txBody>
      </p:sp>
      <p:sp>
        <p:nvSpPr>
          <p:cNvPr id="27" name="Shape 25"/>
          <p:cNvSpPr/>
          <p:nvPr/>
        </p:nvSpPr>
        <p:spPr>
          <a:xfrm>
            <a:off x="7068312" y="2106168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114032" y="2142744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 → 0</a:t>
            </a:r>
            <a:endParaRPr lang="en-US" sz="735" dirty="0"/>
          </a:p>
        </p:txBody>
      </p:sp>
      <p:sp>
        <p:nvSpPr>
          <p:cNvPr id="29" name="Shape 27"/>
          <p:cNvSpPr/>
          <p:nvPr/>
        </p:nvSpPr>
        <p:spPr>
          <a:xfrm>
            <a:off x="9308592" y="2106168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9354312" y="2142744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recheck PASS</a:t>
            </a:r>
            <a:endParaRPr lang="en-US" sz="735" dirty="0"/>
          </a:p>
        </p:txBody>
      </p:sp>
      <p:sp>
        <p:nvSpPr>
          <p:cNvPr id="31" name="Shape 29"/>
          <p:cNvSpPr/>
          <p:nvPr/>
        </p:nvSpPr>
        <p:spPr>
          <a:xfrm>
            <a:off x="438912" y="2840736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4632" y="2877312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Tax/shipping mismatch</a:t>
            </a:r>
            <a:endParaRPr lang="en-US" sz="735" dirty="0"/>
          </a:p>
        </p:txBody>
      </p:sp>
      <p:sp>
        <p:nvSpPr>
          <p:cNvPr id="33" name="Shape 31"/>
          <p:cNvSpPr/>
          <p:nvPr/>
        </p:nvSpPr>
        <p:spPr>
          <a:xfrm>
            <a:off x="2404872" y="2840736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450592" y="2877312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bases differed</a:t>
            </a:r>
            <a:endParaRPr lang="en-US" sz="735" dirty="0"/>
          </a:p>
        </p:txBody>
      </p:sp>
      <p:sp>
        <p:nvSpPr>
          <p:cNvPr id="35" name="Shape 33"/>
          <p:cNvSpPr/>
          <p:nvPr/>
        </p:nvSpPr>
        <p:spPr>
          <a:xfrm>
            <a:off x="4553712" y="2840736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99432" y="2877312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NORMALISED_TAX_EXCLUSIVE</a:t>
            </a:r>
            <a:endParaRPr lang="en-US" sz="735" dirty="0"/>
          </a:p>
        </p:txBody>
      </p:sp>
      <p:sp>
        <p:nvSpPr>
          <p:cNvPr id="37" name="Shape 35"/>
          <p:cNvSpPr/>
          <p:nvPr/>
        </p:nvSpPr>
        <p:spPr>
          <a:xfrm>
            <a:off x="7068312" y="2840736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114032" y="2877312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₹16.25 Cr one basis</a:t>
            </a:r>
            <a:endParaRPr lang="en-US" sz="735" dirty="0"/>
          </a:p>
        </p:txBody>
      </p:sp>
      <p:sp>
        <p:nvSpPr>
          <p:cNvPr id="39" name="Shape 37"/>
          <p:cNvSpPr/>
          <p:nvPr/>
        </p:nvSpPr>
        <p:spPr>
          <a:xfrm>
            <a:off x="9308592" y="2840736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354312" y="2877312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PASS</a:t>
            </a:r>
            <a:endParaRPr lang="en-US" sz="735" dirty="0"/>
          </a:p>
        </p:txBody>
      </p:sp>
      <p:sp>
        <p:nvSpPr>
          <p:cNvPr id="41" name="Shape 39"/>
          <p:cNvSpPr/>
          <p:nvPr/>
        </p:nvSpPr>
        <p:spPr>
          <a:xfrm>
            <a:off x="438912" y="3575304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84632" y="3611880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ATP</a:t>
            </a:r>
            <a:endParaRPr lang="en-US" sz="735" dirty="0"/>
          </a:p>
        </p:txBody>
      </p:sp>
      <p:sp>
        <p:nvSpPr>
          <p:cNvPr id="43" name="Shape 41"/>
          <p:cNvSpPr/>
          <p:nvPr/>
        </p:nvSpPr>
        <p:spPr>
          <a:xfrm>
            <a:off x="2404872" y="3575304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2450592" y="3611880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negative-qty rows</a:t>
            </a:r>
            <a:endParaRPr lang="en-US" sz="735" dirty="0"/>
          </a:p>
        </p:txBody>
      </p:sp>
      <p:sp>
        <p:nvSpPr>
          <p:cNvPr id="45" name="Shape 43"/>
          <p:cNvSpPr/>
          <p:nvPr/>
        </p:nvSpPr>
        <p:spPr>
          <a:xfrm>
            <a:off x="4553712" y="3575304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99432" y="3611880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CORRECTED_ATP_TO_ZERO</a:t>
            </a:r>
            <a:endParaRPr lang="en-US" sz="735" dirty="0"/>
          </a:p>
        </p:txBody>
      </p:sp>
      <p:sp>
        <p:nvSpPr>
          <p:cNvPr id="47" name="Shape 45"/>
          <p:cNvSpPr/>
          <p:nvPr/>
        </p:nvSpPr>
        <p:spPr>
          <a:xfrm>
            <a:off x="7068312" y="3575304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7114032" y="3611880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→ 0</a:t>
            </a:r>
            <a:endParaRPr lang="en-US" sz="735" dirty="0"/>
          </a:p>
        </p:txBody>
      </p:sp>
      <p:sp>
        <p:nvSpPr>
          <p:cNvPr id="49" name="Shape 47"/>
          <p:cNvSpPr/>
          <p:nvPr/>
        </p:nvSpPr>
        <p:spPr>
          <a:xfrm>
            <a:off x="9308592" y="3575304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9354312" y="3611880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PASS</a:t>
            </a:r>
            <a:endParaRPr lang="en-US" sz="735" dirty="0"/>
          </a:p>
        </p:txBody>
      </p:sp>
      <p:sp>
        <p:nvSpPr>
          <p:cNvPr id="51" name="Shape 49"/>
          <p:cNvSpPr/>
          <p:nvPr/>
        </p:nvSpPr>
        <p:spPr>
          <a:xfrm>
            <a:off x="438912" y="4309872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484632" y="4346448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complaints</a:t>
            </a:r>
            <a:endParaRPr lang="en-US" sz="735" dirty="0"/>
          </a:p>
        </p:txBody>
      </p:sp>
      <p:sp>
        <p:nvSpPr>
          <p:cNvPr id="53" name="Shape 51"/>
          <p:cNvSpPr/>
          <p:nvPr/>
        </p:nvSpPr>
        <p:spPr>
          <a:xfrm>
            <a:off x="2404872" y="4309872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450592" y="4346448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duplicate cases</a:t>
            </a:r>
            <a:endParaRPr lang="en-US" sz="735" dirty="0"/>
          </a:p>
        </p:txBody>
      </p:sp>
      <p:sp>
        <p:nvSpPr>
          <p:cNvPr id="55" name="Shape 53"/>
          <p:cNvSpPr/>
          <p:nvPr/>
        </p:nvSpPr>
        <p:spPr>
          <a:xfrm>
            <a:off x="4553712" y="4309872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4599432" y="4346448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DEDUPED_CANONICAL_CASE</a:t>
            </a:r>
            <a:endParaRPr lang="en-US" sz="735" dirty="0"/>
          </a:p>
        </p:txBody>
      </p:sp>
      <p:sp>
        <p:nvSpPr>
          <p:cNvPr id="57" name="Shape 55"/>
          <p:cNvSpPr/>
          <p:nvPr/>
        </p:nvSpPr>
        <p:spPr>
          <a:xfrm>
            <a:off x="7068312" y="4309872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7114032" y="4346448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→ deduped</a:t>
            </a:r>
            <a:endParaRPr lang="en-US" sz="735" dirty="0"/>
          </a:p>
        </p:txBody>
      </p:sp>
      <p:sp>
        <p:nvSpPr>
          <p:cNvPr id="59" name="Shape 57"/>
          <p:cNvSpPr/>
          <p:nvPr/>
        </p:nvSpPr>
        <p:spPr>
          <a:xfrm>
            <a:off x="9308592" y="4309872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9354312" y="4346448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 PASS</a:t>
            </a:r>
            <a:endParaRPr lang="en-US" sz="735" dirty="0"/>
          </a:p>
        </p:txBody>
      </p:sp>
      <p:sp>
        <p:nvSpPr>
          <p:cNvPr id="61" name="Shape 59"/>
          <p:cNvSpPr/>
          <p:nvPr/>
        </p:nvSpPr>
        <p:spPr>
          <a:xfrm>
            <a:off x="438912" y="5044440"/>
            <a:ext cx="196596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484632" y="5081016"/>
            <a:ext cx="18745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 false revenue</a:t>
            </a:r>
            <a:endParaRPr lang="en-US" sz="735" dirty="0"/>
          </a:p>
        </p:txBody>
      </p:sp>
      <p:sp>
        <p:nvSpPr>
          <p:cNvPr id="63" name="Shape 61"/>
          <p:cNvSpPr/>
          <p:nvPr/>
        </p:nvSpPr>
        <p:spPr>
          <a:xfrm>
            <a:off x="2404872" y="5044440"/>
            <a:ext cx="214884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2450592" y="5081016"/>
            <a:ext cx="205740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449 SELLER_SOLD as revenue</a:t>
            </a:r>
            <a:endParaRPr lang="en-US" sz="735" dirty="0"/>
          </a:p>
        </p:txBody>
      </p:sp>
      <p:sp>
        <p:nvSpPr>
          <p:cNvPr id="65" name="Shape 63"/>
          <p:cNvSpPr/>
          <p:nvPr/>
        </p:nvSpPr>
        <p:spPr>
          <a:xfrm>
            <a:off x="4553712" y="5044440"/>
            <a:ext cx="251460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4599432" y="5081016"/>
            <a:ext cx="242316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RELABELLED_ESTIMATED_GMV</a:t>
            </a:r>
            <a:endParaRPr lang="en-US" sz="735" dirty="0"/>
          </a:p>
        </p:txBody>
      </p:sp>
      <p:sp>
        <p:nvSpPr>
          <p:cNvPr id="67" name="Shape 65"/>
          <p:cNvSpPr/>
          <p:nvPr/>
        </p:nvSpPr>
        <p:spPr>
          <a:xfrm>
            <a:off x="7068312" y="5044440"/>
            <a:ext cx="2240280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7114032" y="5081016"/>
            <a:ext cx="214884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₹1.72 Cr → ESTIMATED</a:t>
            </a:r>
            <a:endParaRPr lang="en-US" sz="735" dirty="0"/>
          </a:p>
        </p:txBody>
      </p:sp>
      <p:sp>
        <p:nvSpPr>
          <p:cNvPr id="69" name="Shape 67"/>
          <p:cNvSpPr/>
          <p:nvPr/>
        </p:nvSpPr>
        <p:spPr>
          <a:xfrm>
            <a:off x="9308592" y="5044440"/>
            <a:ext cx="2450592" cy="7345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9354312" y="5081016"/>
            <a:ext cx="2359152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5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C9 segregation PASS</a:t>
            </a:r>
            <a:endParaRPr lang="en-US" sz="735" dirty="0"/>
          </a:p>
        </p:txBody>
      </p:sp>
      <p:sp>
        <p:nvSpPr>
          <p:cNvPr id="71" name="Text 69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For Category B anomalies, explain why your chosen interpretation is better than alternatives and quantify the impact if possible.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Gold Rebuild and Validation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Prove what changed after fixing the data.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Validation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44752"/>
            <a:ext cx="2606040" cy="373380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810" dirty="0"/>
          </a:p>
        </p:txBody>
      </p:sp>
      <p:sp>
        <p:nvSpPr>
          <p:cNvPr id="13" name="Shape 11"/>
          <p:cNvSpPr/>
          <p:nvPr/>
        </p:nvSpPr>
        <p:spPr>
          <a:xfrm>
            <a:off x="3200400" y="1444752"/>
            <a:ext cx="2331720" cy="373380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246120" y="148132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594360" y="181813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185470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Silver tables were corrected?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3200400" y="181813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246120" y="185470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16 silver_* tables (with audit columns)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594360" y="219151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" y="222808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Gold tables were affected?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3200400" y="219151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246120" y="222808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9 of 14 facts affected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594360" y="256489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260146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Gold tables were rebuilt?</a:t>
            </a:r>
            <a:endParaRPr lang="en-US" sz="810" dirty="0"/>
          </a:p>
        </p:txBody>
      </p:sp>
      <p:sp>
        <p:nvSpPr>
          <p:cNvPr id="25" name="Shape 23"/>
          <p:cNvSpPr/>
          <p:nvPr/>
        </p:nvSpPr>
        <p:spPr>
          <a:xfrm>
            <a:off x="3200400" y="256489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246120" y="260146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Same 9 facts rebuilt (06 notebook)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594360" y="293827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" y="297484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validation checks passed?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3200400" y="293827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246120" y="297484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9 of 10 (C8 documented)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594360" y="3311652"/>
            <a:ext cx="260604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0080" y="3348228"/>
            <a:ext cx="251460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final numbers?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3200400" y="3311652"/>
            <a:ext cx="2331720" cy="3733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46120" y="3348228"/>
            <a:ext cx="22402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GSV 141.51 / NCR 138.35 Cr; A1 −0.41; A4→EST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5806440" y="1444752"/>
            <a:ext cx="251460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852160" y="1481328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Check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8321040" y="1444752"/>
            <a:ext cx="100584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366760" y="1481328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Fix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9326880" y="1444752"/>
            <a:ext cx="100584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9372600" y="1481328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Fix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10332720" y="1444752"/>
            <a:ext cx="1188720" cy="463731"/>
          </a:xfrm>
          <a:prstGeom prst="rect">
            <a:avLst/>
          </a:prstGeom>
          <a:solidFill>
            <a:srgbClr val="6C5CE7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10378440" y="1481328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5806440" y="1908483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5852160" y="1945059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Cancelled revenue anomaly count</a:t>
            </a:r>
            <a:endParaRPr lang="en-US" sz="780" dirty="0"/>
          </a:p>
        </p:txBody>
      </p:sp>
      <p:sp>
        <p:nvSpPr>
          <p:cNvPr id="45" name="Shape 43"/>
          <p:cNvSpPr/>
          <p:nvPr/>
        </p:nvSpPr>
        <p:spPr>
          <a:xfrm>
            <a:off x="8321040" y="1908483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8366760" y="1945059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94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9326880" y="1908483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9372600" y="1945059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10332720" y="1908483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10378440" y="1945059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5806440" y="2372215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852160" y="2408791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 ATP rows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321040" y="2372215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8366760" y="2408791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8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9326880" y="2372215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9372600" y="2408791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10332720" y="2372215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10378440" y="2408791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59" name="Shape 57"/>
          <p:cNvSpPr/>
          <p:nvPr/>
        </p:nvSpPr>
        <p:spPr>
          <a:xfrm>
            <a:off x="5806440" y="2835946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5852160" y="2872522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complaint count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8321040" y="2835946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8366760" y="2872522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7</a:t>
            </a:r>
            <a:endParaRPr lang="en-US" sz="780" dirty="0"/>
          </a:p>
        </p:txBody>
      </p:sp>
      <p:sp>
        <p:nvSpPr>
          <p:cNvPr id="63" name="Shape 61"/>
          <p:cNvSpPr/>
          <p:nvPr/>
        </p:nvSpPr>
        <p:spPr>
          <a:xfrm>
            <a:off x="9326880" y="2835946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9372600" y="2872522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65" name="Shape 63"/>
          <p:cNvSpPr/>
          <p:nvPr/>
        </p:nvSpPr>
        <p:spPr>
          <a:xfrm>
            <a:off x="10332720" y="2835946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10378440" y="2872522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67" name="Shape 65"/>
          <p:cNvSpPr/>
          <p:nvPr/>
        </p:nvSpPr>
        <p:spPr>
          <a:xfrm>
            <a:off x="5806440" y="3299678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5852160" y="3336254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 certainty nulls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21040" y="3299678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8366760" y="3336254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—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9326880" y="3299678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9372600" y="3336254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73" name="Shape 71"/>
          <p:cNvSpPr/>
          <p:nvPr/>
        </p:nvSpPr>
        <p:spPr>
          <a:xfrm>
            <a:off x="10332720" y="3299678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10378440" y="3336254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5806440" y="3763409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5852160" y="3799985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Referential integrity issues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8321040" y="3763409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8366760" y="3799985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—</a:t>
            </a:r>
            <a:endParaRPr lang="en-US" sz="780" dirty="0"/>
          </a:p>
        </p:txBody>
      </p:sp>
      <p:sp>
        <p:nvSpPr>
          <p:cNvPr id="79" name="Shape 77"/>
          <p:cNvSpPr/>
          <p:nvPr/>
        </p:nvSpPr>
        <p:spPr>
          <a:xfrm>
            <a:off x="9326880" y="3763409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9372600" y="3799985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81" name="Shape 79"/>
          <p:cNvSpPr/>
          <p:nvPr/>
        </p:nvSpPr>
        <p:spPr>
          <a:xfrm>
            <a:off x="10332720" y="3763409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10378440" y="3799985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5806440" y="4227141"/>
            <a:ext cx="251460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5852160" y="4263717"/>
            <a:ext cx="242316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Grain violation check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8321040" y="4227141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8366760" y="4263717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—</a:t>
            </a:r>
            <a:endParaRPr lang="en-US" sz="780" dirty="0"/>
          </a:p>
        </p:txBody>
      </p:sp>
      <p:sp>
        <p:nvSpPr>
          <p:cNvPr id="87" name="Shape 85"/>
          <p:cNvSpPr/>
          <p:nvPr/>
        </p:nvSpPr>
        <p:spPr>
          <a:xfrm>
            <a:off x="9326880" y="4227141"/>
            <a:ext cx="100584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/>
          <p:cNvSpPr/>
          <p:nvPr/>
        </p:nvSpPr>
        <p:spPr>
          <a:xfrm>
            <a:off x="9372600" y="4263717"/>
            <a:ext cx="91440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0</a:t>
            </a:r>
            <a:endParaRPr lang="en-US" sz="780" dirty="0"/>
          </a:p>
        </p:txBody>
      </p:sp>
      <p:sp>
        <p:nvSpPr>
          <p:cNvPr id="89" name="Shape 87"/>
          <p:cNvSpPr/>
          <p:nvPr/>
        </p:nvSpPr>
        <p:spPr>
          <a:xfrm>
            <a:off x="10332720" y="4227141"/>
            <a:ext cx="1188720" cy="463731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10378440" y="4263717"/>
            <a:ext cx="1097280" cy="3905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780" dirty="0"/>
          </a:p>
        </p:txBody>
      </p:sp>
      <p:sp>
        <p:nvSpPr>
          <p:cNvPr id="91" name="Shape 89"/>
          <p:cNvSpPr/>
          <p:nvPr/>
        </p:nvSpPr>
        <p:spPr>
          <a:xfrm>
            <a:off x="685800" y="4114800"/>
            <a:ext cx="47548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524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Shape 90"/>
          <p:cNvSpPr/>
          <p:nvPr/>
        </p:nvSpPr>
        <p:spPr>
          <a:xfrm>
            <a:off x="685800" y="4114800"/>
            <a:ext cx="4754880" cy="3474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795528" y="4197096"/>
            <a:ext cx="45354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Presenter Instruction</a:t>
            </a:r>
            <a:endParaRPr lang="en-US" sz="920" dirty="0"/>
          </a:p>
        </p:txBody>
      </p:sp>
      <p:sp>
        <p:nvSpPr>
          <p:cNvPr id="94" name="Text 92"/>
          <p:cNvSpPr/>
          <p:nvPr/>
        </p:nvSpPr>
        <p:spPr>
          <a:xfrm>
            <a:off x="832104" y="4590288"/>
            <a:ext cx="446227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Do not only say validation passed. Show before and after counts and mention which notebooks or SQL files produced them.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6035040" y="4983480"/>
            <a:ext cx="52578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Shape 94"/>
          <p:cNvSpPr/>
          <p:nvPr/>
        </p:nvSpPr>
        <p:spPr>
          <a:xfrm>
            <a:off x="6035040" y="4983480"/>
            <a:ext cx="525780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6144768" y="5065776"/>
            <a:ext cx="5038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Required Evidence</a:t>
            </a:r>
            <a:endParaRPr lang="en-US" sz="920" dirty="0"/>
          </a:p>
        </p:txBody>
      </p:sp>
      <p:sp>
        <p:nvSpPr>
          <p:cNvPr id="98" name="Text 96"/>
          <p:cNvSpPr/>
          <p:nvPr/>
        </p:nvSpPr>
        <p:spPr>
          <a:xfrm>
            <a:off x="6181344" y="5458968"/>
            <a:ext cx="4965192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validation_suite.sql output + affected Gold table row counts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 Dashboard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BI Dashboard Analysis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Show dashboard screenshots and explain what the business learned.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Dashboard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17320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AF2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58952" y="158191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Executive Summary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58952" y="190195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GSV, NCR, margin, leakage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4389120" y="1417320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553712" y="158191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Sales by Channel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4553712" y="190195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Store / Ecommerce / Marketplace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AF2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348472" y="158191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Inventory Health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8348472" y="190195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ATP, stockout, oversell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594360" y="2724912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58952" y="288950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Customer Journey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758952" y="32095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Funnel, cart abandonment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4389120" y="2724912"/>
            <a:ext cx="3429000" cy="941832"/>
          </a:xfrm>
          <a:prstGeom prst="roundRect">
            <a:avLst>
              <a:gd name="adj" fmla="val 7767"/>
            </a:avLst>
          </a:prstGeom>
          <a:solidFill>
            <a:srgbClr val="EAF2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553712" y="2889504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b="1" dirty="0">
                <a:solidFill>
                  <a:srgbClr val="10243E"/>
                </a:solidFill>
              </a:rPr>
              <a:t>NexaLocal &amp; Seller Quality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4553712" y="32095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75569"/>
                </a:solidFill>
              </a:rPr>
              <a:t>Estimated GMV, risk tiers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94360" y="4343400"/>
            <a:ext cx="1828800" cy="310896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40080" y="43799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Area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423160" y="4343400"/>
            <a:ext cx="3794760" cy="310896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468880" y="437997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Finding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6217920" y="4343400"/>
            <a:ext cx="5394960" cy="310896"/>
          </a:xfrm>
          <a:prstGeom prst="rect">
            <a:avLst/>
          </a:prstGeom>
          <a:solidFill>
            <a:srgbClr val="E67E2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63640" y="43799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Meaning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594360" y="4654296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40080" y="469087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423160" y="4654296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468880" y="469087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GSV ₹141.51 Cr vs NCR ₹138.35 Cr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6217920" y="4654296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263640" y="46908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₹3.16 Cr gap = leakage + reclassification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94360" y="4965192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40080" y="50017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2423160" y="4965192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468880" y="5001768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Leakage ₹0.41 Cr cancel + ₹0.65 Cr refunds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217920" y="4965192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6263640" y="5001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top-line is NCR, not GSV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94360" y="5276088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40080" y="53126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2423160" y="5276088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2468880" y="531266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99.47% accurate; stockout ≤1/195 SKU-days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6217920" y="5276088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263640" y="5312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 campaign days; A5/A6 corrected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594360" y="5586984"/>
            <a:ext cx="18288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640080" y="56235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NexaLocal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2423160" y="5586984"/>
            <a:ext cx="37947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2468880" y="56235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GMV ₹1.26 Cr ±35% (ESTIMATED)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6217920" y="5586984"/>
            <a:ext cx="53949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263640" y="562356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added to NCR; demand signal only</a:t>
            </a:r>
            <a:endParaRPr lang="en-US" sz="760" dirty="0"/>
          </a:p>
        </p:txBody>
      </p:sp>
      <p:sp>
        <p:nvSpPr>
          <p:cNvPr id="56" name="Text 54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Margin is deferred (COGS unpopulated); the Executive-Summary waterfall page is in finalisation — figures shown are from live MARTS views.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 Final Business Conclusion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Our verdict: clearly positive on a certainty-segregated, anomaly-corrected basis.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CEO Answer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94360" y="1417320"/>
            <a:ext cx="201168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40080" y="145389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</a:t>
            </a:r>
            <a:endParaRPr lang="en-US" sz="790" dirty="0"/>
          </a:p>
        </p:txBody>
      </p:sp>
      <p:sp>
        <p:nvSpPr>
          <p:cNvPr id="13" name="Shape 11"/>
          <p:cNvSpPr/>
          <p:nvPr/>
        </p:nvSpPr>
        <p:spPr>
          <a:xfrm>
            <a:off x="2606040" y="1417320"/>
            <a:ext cx="96012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651760" y="145389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790" dirty="0"/>
          </a:p>
        </p:txBody>
      </p:sp>
      <p:sp>
        <p:nvSpPr>
          <p:cNvPr id="15" name="Shape 13"/>
          <p:cNvSpPr/>
          <p:nvPr/>
        </p:nvSpPr>
        <p:spPr>
          <a:xfrm>
            <a:off x="3566160" y="1417320"/>
            <a:ext cx="141732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611880" y="145389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Certainty</a:t>
            </a:r>
            <a:endParaRPr lang="en-US" sz="790" dirty="0"/>
          </a:p>
        </p:txBody>
      </p:sp>
      <p:sp>
        <p:nvSpPr>
          <p:cNvPr id="17" name="Shape 15"/>
          <p:cNvSpPr/>
          <p:nvPr/>
        </p:nvSpPr>
        <p:spPr>
          <a:xfrm>
            <a:off x="4983480" y="1417320"/>
            <a:ext cx="1600200" cy="497205"/>
          </a:xfrm>
          <a:prstGeom prst="rect">
            <a:avLst/>
          </a:prstGeom>
          <a:solidFill>
            <a:srgbClr val="2E7D32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029200" y="145389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790" dirty="0"/>
          </a:p>
        </p:txBody>
      </p:sp>
      <p:sp>
        <p:nvSpPr>
          <p:cNvPr id="19" name="Shape 17"/>
          <p:cNvSpPr/>
          <p:nvPr/>
        </p:nvSpPr>
        <p:spPr>
          <a:xfrm>
            <a:off x="594360" y="191452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40080" y="195110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Sale Value</a:t>
            </a:r>
            <a:endParaRPr lang="en-US" sz="790" dirty="0"/>
          </a:p>
        </p:txBody>
      </p:sp>
      <p:sp>
        <p:nvSpPr>
          <p:cNvPr id="21" name="Shape 19"/>
          <p:cNvSpPr/>
          <p:nvPr/>
        </p:nvSpPr>
        <p:spPr>
          <a:xfrm>
            <a:off x="2606040" y="191452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651760" y="195110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₹141.51 Cr</a:t>
            </a:r>
            <a:endParaRPr lang="en-US" sz="790" dirty="0"/>
          </a:p>
        </p:txBody>
      </p:sp>
      <p:sp>
        <p:nvSpPr>
          <p:cNvPr id="23" name="Shape 21"/>
          <p:cNvSpPr/>
          <p:nvPr/>
        </p:nvSpPr>
        <p:spPr>
          <a:xfrm>
            <a:off x="3566160" y="191452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11880" y="195110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25" name="Shape 23"/>
          <p:cNvSpPr/>
          <p:nvPr/>
        </p:nvSpPr>
        <p:spPr>
          <a:xfrm>
            <a:off x="4983480" y="191452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29200" y="195110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Gross, tax-exclusive, all channels</a:t>
            </a:r>
            <a:endParaRPr lang="en-US" sz="790" dirty="0"/>
          </a:p>
        </p:txBody>
      </p:sp>
      <p:sp>
        <p:nvSpPr>
          <p:cNvPr id="27" name="Shape 25"/>
          <p:cNvSpPr/>
          <p:nvPr/>
        </p:nvSpPr>
        <p:spPr>
          <a:xfrm>
            <a:off x="594360" y="2411730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40080" y="244830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Confirmed Revenue</a:t>
            </a:r>
            <a:endParaRPr lang="en-US" sz="790" dirty="0"/>
          </a:p>
        </p:txBody>
      </p:sp>
      <p:sp>
        <p:nvSpPr>
          <p:cNvPr id="29" name="Shape 27"/>
          <p:cNvSpPr/>
          <p:nvPr/>
        </p:nvSpPr>
        <p:spPr>
          <a:xfrm>
            <a:off x="2606040" y="2411730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2651760" y="244830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₹138.35 Cr</a:t>
            </a:r>
            <a:endParaRPr lang="en-US" sz="790" dirty="0"/>
          </a:p>
        </p:txBody>
      </p:sp>
      <p:sp>
        <p:nvSpPr>
          <p:cNvPr id="31" name="Shape 29"/>
          <p:cNvSpPr/>
          <p:nvPr/>
        </p:nvSpPr>
        <p:spPr>
          <a:xfrm>
            <a:off x="3566160" y="2411730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611880" y="244830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33" name="Shape 31"/>
          <p:cNvSpPr/>
          <p:nvPr/>
        </p:nvSpPr>
        <p:spPr>
          <a:xfrm>
            <a:off x="4983480" y="2411730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029200" y="244830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Trusted top-line after leakage</a:t>
            </a:r>
            <a:endParaRPr lang="en-US" sz="790" dirty="0"/>
          </a:p>
        </p:txBody>
      </p:sp>
      <p:sp>
        <p:nvSpPr>
          <p:cNvPr id="35" name="Shape 33"/>
          <p:cNvSpPr/>
          <p:nvPr/>
        </p:nvSpPr>
        <p:spPr>
          <a:xfrm>
            <a:off x="594360" y="290893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40080" y="294551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Margin</a:t>
            </a:r>
            <a:endParaRPr lang="en-US" sz="790" dirty="0"/>
          </a:p>
        </p:txBody>
      </p:sp>
      <p:sp>
        <p:nvSpPr>
          <p:cNvPr id="37" name="Shape 35"/>
          <p:cNvSpPr/>
          <p:nvPr/>
        </p:nvSpPr>
        <p:spPr>
          <a:xfrm>
            <a:off x="2606040" y="290893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651760" y="294551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Deferred</a:t>
            </a:r>
            <a:endParaRPr lang="en-US" sz="790" dirty="0"/>
          </a:p>
        </p:txBody>
      </p:sp>
      <p:sp>
        <p:nvSpPr>
          <p:cNvPr id="39" name="Shape 37"/>
          <p:cNvSpPr/>
          <p:nvPr/>
        </p:nvSpPr>
        <p:spPr>
          <a:xfrm>
            <a:off x="3566160" y="290893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3611880" y="294551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Deferred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4983480" y="290893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029200" y="294551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COGS unpopulated — not yet meaningful</a:t>
            </a:r>
            <a:endParaRPr lang="en-US" sz="790" dirty="0"/>
          </a:p>
        </p:txBody>
      </p:sp>
      <p:sp>
        <p:nvSpPr>
          <p:cNvPr id="43" name="Shape 41"/>
          <p:cNvSpPr/>
          <p:nvPr/>
        </p:nvSpPr>
        <p:spPr>
          <a:xfrm>
            <a:off x="594360" y="3406140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40080" y="344271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Leakage</a:t>
            </a:r>
            <a:endParaRPr lang="en-US" sz="790" dirty="0"/>
          </a:p>
        </p:txBody>
      </p:sp>
      <p:sp>
        <p:nvSpPr>
          <p:cNvPr id="45" name="Shape 43"/>
          <p:cNvSpPr/>
          <p:nvPr/>
        </p:nvSpPr>
        <p:spPr>
          <a:xfrm>
            <a:off x="2606040" y="3406140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2651760" y="344271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₹1.06 Cr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3566160" y="3406140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3611880" y="344271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49" name="Shape 47"/>
          <p:cNvSpPr/>
          <p:nvPr/>
        </p:nvSpPr>
        <p:spPr>
          <a:xfrm>
            <a:off x="4983480" y="3406140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5029200" y="344271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₹0.41 Cr cancel + ₹0.65 Cr refunds</a:t>
            </a:r>
            <a:endParaRPr lang="en-US" sz="790" dirty="0"/>
          </a:p>
        </p:txBody>
      </p:sp>
      <p:sp>
        <p:nvSpPr>
          <p:cNvPr id="51" name="Shape 49"/>
          <p:cNvSpPr/>
          <p:nvPr/>
        </p:nvSpPr>
        <p:spPr>
          <a:xfrm>
            <a:off x="594360" y="390334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640080" y="393992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Stockout Rate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2606040" y="390334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651760" y="393992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≤1/195 SKU-days</a:t>
            </a:r>
            <a:endParaRPr lang="en-US" sz="790" dirty="0"/>
          </a:p>
        </p:txBody>
      </p:sp>
      <p:sp>
        <p:nvSpPr>
          <p:cNvPr id="55" name="Shape 53"/>
          <p:cNvSpPr/>
          <p:nvPr/>
        </p:nvSpPr>
        <p:spPr>
          <a:xfrm>
            <a:off x="3566160" y="390334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611880" y="393992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</a:t>
            </a:r>
            <a:endParaRPr lang="en-US" sz="790" dirty="0"/>
          </a:p>
        </p:txBody>
      </p:sp>
      <p:sp>
        <p:nvSpPr>
          <p:cNvPr id="57" name="Shape 55"/>
          <p:cNvSpPr/>
          <p:nvPr/>
        </p:nvSpPr>
        <p:spPr>
          <a:xfrm>
            <a:off x="4983480" y="390334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5029200" y="393992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Few campaign days; corrected</a:t>
            </a:r>
            <a:endParaRPr lang="en-US" sz="790" dirty="0"/>
          </a:p>
        </p:txBody>
      </p:sp>
      <p:sp>
        <p:nvSpPr>
          <p:cNvPr id="59" name="Shape 57"/>
          <p:cNvSpPr/>
          <p:nvPr/>
        </p:nvSpPr>
        <p:spPr>
          <a:xfrm>
            <a:off x="594360" y="4400550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40080" y="4437126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Abandonment Rate</a:t>
            </a:r>
            <a:endParaRPr lang="en-US" sz="790" dirty="0"/>
          </a:p>
        </p:txBody>
      </p:sp>
      <p:sp>
        <p:nvSpPr>
          <p:cNvPr id="61" name="Shape 59"/>
          <p:cNvSpPr/>
          <p:nvPr/>
        </p:nvSpPr>
        <p:spPr>
          <a:xfrm>
            <a:off x="2606040" y="4400550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2651760" y="4437126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41.5%</a:t>
            </a:r>
            <a:endParaRPr lang="en-US" sz="790" dirty="0"/>
          </a:p>
        </p:txBody>
      </p:sp>
      <p:sp>
        <p:nvSpPr>
          <p:cNvPr id="63" name="Shape 61"/>
          <p:cNvSpPr/>
          <p:nvPr/>
        </p:nvSpPr>
        <p:spPr>
          <a:xfrm>
            <a:off x="3566160" y="4400550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3611880" y="4437126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Confirmed / Inferred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4983480" y="4400550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5029200" y="4437126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684/1,647 whole-period</a:t>
            </a:r>
            <a:endParaRPr lang="en-US" sz="790" dirty="0"/>
          </a:p>
        </p:txBody>
      </p:sp>
      <p:sp>
        <p:nvSpPr>
          <p:cNvPr id="67" name="Shape 65"/>
          <p:cNvSpPr/>
          <p:nvPr/>
        </p:nvSpPr>
        <p:spPr>
          <a:xfrm>
            <a:off x="594360" y="4897755"/>
            <a:ext cx="201168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40080" y="4934331"/>
            <a:ext cx="192024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Classified GMV</a:t>
            </a:r>
            <a:endParaRPr lang="en-US" sz="790" dirty="0"/>
          </a:p>
        </p:txBody>
      </p:sp>
      <p:sp>
        <p:nvSpPr>
          <p:cNvPr id="69" name="Shape 67"/>
          <p:cNvSpPr/>
          <p:nvPr/>
        </p:nvSpPr>
        <p:spPr>
          <a:xfrm>
            <a:off x="2606040" y="4897755"/>
            <a:ext cx="9601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2651760" y="4934331"/>
            <a:ext cx="8686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₹1.26 Cr ±35%</a:t>
            </a:r>
            <a:endParaRPr lang="en-US" sz="790" dirty="0"/>
          </a:p>
        </p:txBody>
      </p:sp>
      <p:sp>
        <p:nvSpPr>
          <p:cNvPr id="71" name="Shape 69"/>
          <p:cNvSpPr/>
          <p:nvPr/>
        </p:nvSpPr>
        <p:spPr>
          <a:xfrm>
            <a:off x="3566160" y="4897755"/>
            <a:ext cx="141732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3611880" y="4934331"/>
            <a:ext cx="132588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</a:t>
            </a:r>
            <a:endParaRPr lang="en-US" sz="790" dirty="0"/>
          </a:p>
        </p:txBody>
      </p:sp>
      <p:sp>
        <p:nvSpPr>
          <p:cNvPr id="73" name="Shape 71"/>
          <p:cNvSpPr/>
          <p:nvPr/>
        </p:nvSpPr>
        <p:spPr>
          <a:xfrm>
            <a:off x="4983480" y="4897755"/>
            <a:ext cx="1600200" cy="497205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5029200" y="4934331"/>
            <a:ext cx="1508760" cy="4240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Demand signal; never in NCR</a:t>
            </a:r>
            <a:endParaRPr lang="en-US" sz="790" dirty="0"/>
          </a:p>
        </p:txBody>
      </p:sp>
      <p:sp>
        <p:nvSpPr>
          <p:cNvPr id="75" name="Shape 73"/>
          <p:cNvSpPr/>
          <p:nvPr/>
        </p:nvSpPr>
        <p:spPr>
          <a:xfrm>
            <a:off x="6903720" y="1463040"/>
            <a:ext cx="4434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6903720" y="1463040"/>
            <a:ext cx="443484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013448" y="1545336"/>
            <a:ext cx="4215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Final Answer</a:t>
            </a:r>
            <a:endParaRPr lang="en-US" sz="920" dirty="0"/>
          </a:p>
        </p:txBody>
      </p:sp>
      <p:sp>
        <p:nvSpPr>
          <p:cNvPr id="78" name="Text 76"/>
          <p:cNvSpPr/>
          <p:nvPr/>
        </p:nvSpPr>
        <p:spPr>
          <a:xfrm>
            <a:off x="7050024" y="1938528"/>
            <a:ext cx="4142232" cy="4206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Successful — clearly positive (certainty-segregated, anomaly-corrected)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6903720" y="2743200"/>
            <a:ext cx="4434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78"/>
          <p:cNvSpPr/>
          <p:nvPr/>
        </p:nvSpPr>
        <p:spPr>
          <a:xfrm>
            <a:off x="6903720" y="2743200"/>
            <a:ext cx="443484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9"/>
          <p:cNvSpPr/>
          <p:nvPr/>
        </p:nvSpPr>
        <p:spPr>
          <a:xfrm>
            <a:off x="7013448" y="2825496"/>
            <a:ext cx="4215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Sample Wording</a:t>
            </a:r>
            <a:endParaRPr lang="en-US" sz="920" dirty="0"/>
          </a:p>
        </p:txBody>
      </p:sp>
      <p:sp>
        <p:nvSpPr>
          <p:cNvPr id="82" name="Text 80"/>
          <p:cNvSpPr/>
          <p:nvPr/>
        </p:nvSpPr>
        <p:spPr>
          <a:xfrm>
            <a:off x="7050024" y="3218688"/>
            <a:ext cx="4142232" cy="7406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Campaign-window confirmed revenue ran +₹1.27 Cr above baseline. The legacy +34% headline was inflated by A1 (₹0.41 Cr cancelled) and A4 (₹1.72 Cr seller-sold), now corrected. The verdict follows from 24 resolved anomalies, not opinion.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6903720" y="4434840"/>
            <a:ext cx="4434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82"/>
          <p:cNvSpPr/>
          <p:nvPr/>
        </p:nvSpPr>
        <p:spPr>
          <a:xfrm>
            <a:off x="6903720" y="4434840"/>
            <a:ext cx="44348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Text 83"/>
          <p:cNvSpPr/>
          <p:nvPr/>
        </p:nvSpPr>
        <p:spPr>
          <a:xfrm>
            <a:off x="7013448" y="4517136"/>
            <a:ext cx="4215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Not Allowed</a:t>
            </a:r>
            <a:endParaRPr lang="en-US" sz="920" dirty="0"/>
          </a:p>
        </p:txBody>
      </p:sp>
      <p:sp>
        <p:nvSpPr>
          <p:cNvPr id="86" name="Text 84"/>
          <p:cNvSpPr/>
          <p:nvPr/>
        </p:nvSpPr>
        <p:spPr>
          <a:xfrm>
            <a:off x="7050024" y="4910328"/>
            <a:ext cx="4142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Do not conclude only: "sales increased, so campaign was successful."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11. Member-Wise Contribution and Final Proof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Every member must present the part they personally completed.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Accountability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502920" y="1353312"/>
            <a:ext cx="114300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138988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1645920" y="1353312"/>
            <a:ext cx="214884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138988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 Work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794760" y="1353312"/>
            <a:ext cx="224028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840480" y="138988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Produced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6035040" y="1353312"/>
            <a:ext cx="100584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080760" y="138988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Completion %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7040880" y="1353312"/>
            <a:ext cx="4663440" cy="411480"/>
          </a:xfrm>
          <a:prstGeom prst="rect">
            <a:avLst/>
          </a:prstGeom>
          <a:solidFill>
            <a:srgbClr val="C0392B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086600" y="138988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02920" y="176479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180136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Arif Rubbani (Lead)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1645920" y="176479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691640" y="18013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Bronze + lead build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3794760" y="176479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840480" y="180136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 rebuild, validation, KPI views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6035040" y="176479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080760" y="180136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7040880" y="176479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086600" y="18013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05/06, validation_suite.sql, report (E1–E5)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502920" y="217627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48640" y="221284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Khallad Ahmad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1645920" y="217627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1691640" y="221284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identity &amp; seller-trust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3794760" y="217627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840480" y="221284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dim_customer, dim_seller_risk_tier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6035040" y="217627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080760" y="221284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7040880" y="217627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7086600" y="221284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A11, B5/B6/B8 (E2/E3)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502920" y="258775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48640" y="262432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Sameen Fatima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1645920" y="258775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1691640" y="262432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master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3794760" y="258775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3840480" y="262432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dim_product, dim_listing_condition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6035040" y="258775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080760" y="262432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7040880" y="258775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086600" y="262432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A9, B4 (E2/E3)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502920" y="299923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48640" y="303580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Asad Ali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1645920" y="299923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691640" y="303580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Silver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3794760" y="299923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840480" y="303580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dim_store, fact_warehouse_inventory_snapshot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6035040" y="299923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6080760" y="303580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7040880" y="299923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7086600" y="303580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A6, A10 (E2/E3)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02920" y="341071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548640" y="344728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Hamza Asim</a:t>
            </a:r>
            <a:endParaRPr lang="en-US" sz="740" dirty="0"/>
          </a:p>
        </p:txBody>
      </p:sp>
      <p:sp>
        <p:nvSpPr>
          <p:cNvPr id="63" name="Shape 61"/>
          <p:cNvSpPr/>
          <p:nvPr/>
        </p:nvSpPr>
        <p:spPr>
          <a:xfrm>
            <a:off x="1645920" y="341071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1691640" y="344728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/ payments / returns</a:t>
            </a:r>
            <a:endParaRPr lang="en-US" sz="740" dirty="0"/>
          </a:p>
        </p:txBody>
      </p:sp>
      <p:sp>
        <p:nvSpPr>
          <p:cNvPr id="65" name="Shape 63"/>
          <p:cNvSpPr/>
          <p:nvPr/>
        </p:nvSpPr>
        <p:spPr>
          <a:xfrm>
            <a:off x="3794760" y="341071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3840480" y="344728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fact_store_sale_line, dim_promotion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6035040" y="341071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080760" y="344728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040880" y="341071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7086600" y="344728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A1, A2, A3 (E2/E3)</a:t>
            </a:r>
            <a:endParaRPr lang="en-US" sz="740" dirty="0"/>
          </a:p>
        </p:txBody>
      </p:sp>
      <p:sp>
        <p:nvSpPr>
          <p:cNvPr id="71" name="Shape 69"/>
          <p:cNvSpPr/>
          <p:nvPr/>
        </p:nvSpPr>
        <p:spPr>
          <a:xfrm>
            <a:off x="502920" y="3822192"/>
            <a:ext cx="11430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548640" y="3858768"/>
            <a:ext cx="10515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Azhar Sajjad</a:t>
            </a:r>
            <a:endParaRPr lang="en-US" sz="740" dirty="0"/>
          </a:p>
        </p:txBody>
      </p:sp>
      <p:sp>
        <p:nvSpPr>
          <p:cNvPr id="73" name="Shape 71"/>
          <p:cNvSpPr/>
          <p:nvPr/>
        </p:nvSpPr>
        <p:spPr>
          <a:xfrm>
            <a:off x="1645920" y="3822192"/>
            <a:ext cx="2148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1691640" y="3858768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Reviews / support / marketplace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3794760" y="3822192"/>
            <a:ext cx="22402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Text 74"/>
          <p:cNvSpPr/>
          <p:nvPr/>
        </p:nvSpPr>
        <p:spPr>
          <a:xfrm>
            <a:off x="3840480" y="3858768"/>
            <a:ext cx="2148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dim_seller, fact_customer_review</a:t>
            </a:r>
            <a:endParaRPr lang="en-US" sz="740" dirty="0"/>
          </a:p>
        </p:txBody>
      </p:sp>
      <p:sp>
        <p:nvSpPr>
          <p:cNvPr id="77" name="Shape 75"/>
          <p:cNvSpPr/>
          <p:nvPr/>
        </p:nvSpPr>
        <p:spPr>
          <a:xfrm>
            <a:off x="6035040" y="3822192"/>
            <a:ext cx="10058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080760" y="385876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/>
                <a:ea typeface="Aptos"/>
                <a:cs typeface="Aptos"/>
              </a:rPr>
              <a:t>100%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7040880" y="3822192"/>
            <a:ext cx="466344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7086600" y="38587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A4, A13, A15, A16 (E2/E3)</a:t>
            </a:r>
            <a:endParaRPr lang="en-US" sz="740" dirty="0"/>
          </a:p>
        </p:txBody>
      </p:sp>
      <p:sp>
        <p:nvSpPr>
          <p:cNvPr id="81" name="Shape 79"/>
          <p:cNvSpPr/>
          <p:nvPr/>
        </p:nvSpPr>
        <p:spPr>
          <a:xfrm>
            <a:off x="594360" y="4572000"/>
            <a:ext cx="242824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Text 80"/>
          <p:cNvSpPr/>
          <p:nvPr/>
        </p:nvSpPr>
        <p:spPr>
          <a:xfrm>
            <a:off x="640080" y="4608576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Proof</a:t>
            </a:r>
            <a:endParaRPr lang="en-US" sz="710" dirty="0"/>
          </a:p>
        </p:txBody>
      </p:sp>
      <p:sp>
        <p:nvSpPr>
          <p:cNvPr id="83" name="Shape 81"/>
          <p:cNvSpPr/>
          <p:nvPr/>
        </p:nvSpPr>
        <p:spPr>
          <a:xfrm>
            <a:off x="3022600" y="4572000"/>
            <a:ext cx="121412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Text 82"/>
          <p:cNvSpPr/>
          <p:nvPr/>
        </p:nvSpPr>
        <p:spPr>
          <a:xfrm>
            <a:off x="3068320" y="4608576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Shown?</a:t>
            </a:r>
            <a:endParaRPr lang="en-US" sz="710" dirty="0"/>
          </a:p>
        </p:txBody>
      </p:sp>
      <p:sp>
        <p:nvSpPr>
          <p:cNvPr id="85" name="Shape 83"/>
          <p:cNvSpPr/>
          <p:nvPr/>
        </p:nvSpPr>
        <p:spPr>
          <a:xfrm>
            <a:off x="4236720" y="4572000"/>
            <a:ext cx="242824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4282440" y="4608576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Proof</a:t>
            </a:r>
            <a:endParaRPr lang="en-US" sz="710" dirty="0"/>
          </a:p>
        </p:txBody>
      </p:sp>
      <p:sp>
        <p:nvSpPr>
          <p:cNvPr id="87" name="Shape 85"/>
          <p:cNvSpPr/>
          <p:nvPr/>
        </p:nvSpPr>
        <p:spPr>
          <a:xfrm>
            <a:off x="6664960" y="4572000"/>
            <a:ext cx="121412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Text 86"/>
          <p:cNvSpPr/>
          <p:nvPr/>
        </p:nvSpPr>
        <p:spPr>
          <a:xfrm>
            <a:off x="6710680" y="4608576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Shown?</a:t>
            </a:r>
            <a:endParaRPr lang="en-US" sz="710" dirty="0"/>
          </a:p>
        </p:txBody>
      </p:sp>
      <p:sp>
        <p:nvSpPr>
          <p:cNvPr id="89" name="Shape 87"/>
          <p:cNvSpPr/>
          <p:nvPr/>
        </p:nvSpPr>
        <p:spPr>
          <a:xfrm>
            <a:off x="7879080" y="4572000"/>
            <a:ext cx="242824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Text 88"/>
          <p:cNvSpPr/>
          <p:nvPr/>
        </p:nvSpPr>
        <p:spPr>
          <a:xfrm>
            <a:off x="7924800" y="4608576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Proof</a:t>
            </a:r>
            <a:endParaRPr lang="en-US" sz="710" dirty="0"/>
          </a:p>
        </p:txBody>
      </p:sp>
      <p:sp>
        <p:nvSpPr>
          <p:cNvPr id="91" name="Shape 89"/>
          <p:cNvSpPr/>
          <p:nvPr/>
        </p:nvSpPr>
        <p:spPr>
          <a:xfrm>
            <a:off x="10307320" y="4572000"/>
            <a:ext cx="1214120" cy="310896"/>
          </a:xfrm>
          <a:prstGeom prst="rect">
            <a:avLst/>
          </a:prstGeom>
          <a:solidFill>
            <a:srgbClr val="10243E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Text 90"/>
          <p:cNvSpPr/>
          <p:nvPr/>
        </p:nvSpPr>
        <p:spPr>
          <a:xfrm>
            <a:off x="10353040" y="4608576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Shown?</a:t>
            </a:r>
            <a:endParaRPr lang="en-US" sz="710" dirty="0"/>
          </a:p>
        </p:txBody>
      </p:sp>
      <p:sp>
        <p:nvSpPr>
          <p:cNvPr id="93" name="Shape 91"/>
          <p:cNvSpPr/>
          <p:nvPr/>
        </p:nvSpPr>
        <p:spPr>
          <a:xfrm>
            <a:off x="594360" y="4882896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4" name="Text 92"/>
          <p:cNvSpPr/>
          <p:nvPr/>
        </p:nvSpPr>
        <p:spPr>
          <a:xfrm>
            <a:off x="640080" y="4919472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Snowflake schemas/tables</a:t>
            </a:r>
            <a:endParaRPr lang="en-US" sz="710" dirty="0"/>
          </a:p>
        </p:txBody>
      </p:sp>
      <p:sp>
        <p:nvSpPr>
          <p:cNvPr id="95" name="Shape 93"/>
          <p:cNvSpPr/>
          <p:nvPr/>
        </p:nvSpPr>
        <p:spPr>
          <a:xfrm>
            <a:off x="3022600" y="4882896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6" name="Text 94"/>
          <p:cNvSpPr/>
          <p:nvPr/>
        </p:nvSpPr>
        <p:spPr>
          <a:xfrm>
            <a:off x="3068320" y="4919472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97" name="Shape 95"/>
          <p:cNvSpPr/>
          <p:nvPr/>
        </p:nvSpPr>
        <p:spPr>
          <a:xfrm>
            <a:off x="4236720" y="4882896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8" name="Text 96"/>
          <p:cNvSpPr/>
          <p:nvPr/>
        </p:nvSpPr>
        <p:spPr>
          <a:xfrm>
            <a:off x="4282440" y="4919472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 anomaly flags</a:t>
            </a:r>
            <a:endParaRPr lang="en-US" sz="710" dirty="0"/>
          </a:p>
        </p:txBody>
      </p:sp>
      <p:sp>
        <p:nvSpPr>
          <p:cNvPr id="99" name="Shape 97"/>
          <p:cNvSpPr/>
          <p:nvPr/>
        </p:nvSpPr>
        <p:spPr>
          <a:xfrm>
            <a:off x="6664960" y="4882896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Text 98"/>
          <p:cNvSpPr/>
          <p:nvPr/>
        </p:nvSpPr>
        <p:spPr>
          <a:xfrm>
            <a:off x="6710680" y="4919472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01" name="Shape 99"/>
          <p:cNvSpPr/>
          <p:nvPr/>
        </p:nvSpPr>
        <p:spPr>
          <a:xfrm>
            <a:off x="7879080" y="4882896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Text 100"/>
          <p:cNvSpPr/>
          <p:nvPr/>
        </p:nvSpPr>
        <p:spPr>
          <a:xfrm>
            <a:off x="7924800" y="4919472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suite result</a:t>
            </a:r>
            <a:endParaRPr lang="en-US" sz="710" dirty="0"/>
          </a:p>
        </p:txBody>
      </p:sp>
      <p:sp>
        <p:nvSpPr>
          <p:cNvPr id="103" name="Shape 101"/>
          <p:cNvSpPr/>
          <p:nvPr/>
        </p:nvSpPr>
        <p:spPr>
          <a:xfrm>
            <a:off x="10307320" y="4882896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Text 102"/>
          <p:cNvSpPr/>
          <p:nvPr/>
        </p:nvSpPr>
        <p:spPr>
          <a:xfrm>
            <a:off x="10353040" y="4919472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05" name="Shape 103"/>
          <p:cNvSpPr/>
          <p:nvPr/>
        </p:nvSpPr>
        <p:spPr>
          <a:xfrm>
            <a:off x="594360" y="5193792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104"/>
          <p:cNvSpPr/>
          <p:nvPr/>
        </p:nvSpPr>
        <p:spPr>
          <a:xfrm>
            <a:off x="640080" y="5230368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Bronze row count validation</a:t>
            </a:r>
            <a:endParaRPr lang="en-US" sz="710" dirty="0"/>
          </a:p>
        </p:txBody>
      </p:sp>
      <p:sp>
        <p:nvSpPr>
          <p:cNvPr id="107" name="Shape 105"/>
          <p:cNvSpPr/>
          <p:nvPr/>
        </p:nvSpPr>
        <p:spPr>
          <a:xfrm>
            <a:off x="3022600" y="5193792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8" name="Text 106"/>
          <p:cNvSpPr/>
          <p:nvPr/>
        </p:nvSpPr>
        <p:spPr>
          <a:xfrm>
            <a:off x="3068320" y="5230368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09" name="Shape 107"/>
          <p:cNvSpPr/>
          <p:nvPr/>
        </p:nvSpPr>
        <p:spPr>
          <a:xfrm>
            <a:off x="4236720" y="5193792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0" name="Text 108"/>
          <p:cNvSpPr/>
          <p:nvPr/>
        </p:nvSpPr>
        <p:spPr>
          <a:xfrm>
            <a:off x="4282440" y="5230368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PySpark fix notebook</a:t>
            </a:r>
            <a:endParaRPr lang="en-US" sz="710" dirty="0"/>
          </a:p>
        </p:txBody>
      </p:sp>
      <p:sp>
        <p:nvSpPr>
          <p:cNvPr id="111" name="Shape 109"/>
          <p:cNvSpPr/>
          <p:nvPr/>
        </p:nvSpPr>
        <p:spPr>
          <a:xfrm>
            <a:off x="6664960" y="5193792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Text 110"/>
          <p:cNvSpPr/>
          <p:nvPr/>
        </p:nvSpPr>
        <p:spPr>
          <a:xfrm>
            <a:off x="6710680" y="5230368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13" name="Shape 111"/>
          <p:cNvSpPr/>
          <p:nvPr/>
        </p:nvSpPr>
        <p:spPr>
          <a:xfrm>
            <a:off x="7879080" y="5193792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4" name="Text 112"/>
          <p:cNvSpPr/>
          <p:nvPr/>
        </p:nvSpPr>
        <p:spPr>
          <a:xfrm>
            <a:off x="7924800" y="5230368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 dashboard screenshots</a:t>
            </a:r>
            <a:endParaRPr lang="en-US" sz="710" dirty="0"/>
          </a:p>
        </p:txBody>
      </p:sp>
      <p:sp>
        <p:nvSpPr>
          <p:cNvPr id="115" name="Shape 113"/>
          <p:cNvSpPr/>
          <p:nvPr/>
        </p:nvSpPr>
        <p:spPr>
          <a:xfrm>
            <a:off x="10307320" y="5193792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6" name="Text 114"/>
          <p:cNvSpPr/>
          <p:nvPr/>
        </p:nvSpPr>
        <p:spPr>
          <a:xfrm>
            <a:off x="10353040" y="5230368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17" name="Shape 115"/>
          <p:cNvSpPr/>
          <p:nvPr/>
        </p:nvSpPr>
        <p:spPr>
          <a:xfrm>
            <a:off x="594360" y="5504688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Text 116"/>
          <p:cNvSpPr/>
          <p:nvPr/>
        </p:nvSpPr>
        <p:spPr>
          <a:xfrm>
            <a:off x="640080" y="5541264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Anomaly SQL output</a:t>
            </a:r>
            <a:endParaRPr lang="en-US" sz="710" dirty="0"/>
          </a:p>
        </p:txBody>
      </p:sp>
      <p:sp>
        <p:nvSpPr>
          <p:cNvPr id="119" name="Shape 117"/>
          <p:cNvSpPr/>
          <p:nvPr/>
        </p:nvSpPr>
        <p:spPr>
          <a:xfrm>
            <a:off x="3022600" y="5504688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Text 118"/>
          <p:cNvSpPr/>
          <p:nvPr/>
        </p:nvSpPr>
        <p:spPr>
          <a:xfrm>
            <a:off x="3068320" y="5541264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21" name="Shape 119"/>
          <p:cNvSpPr/>
          <p:nvPr/>
        </p:nvSpPr>
        <p:spPr>
          <a:xfrm>
            <a:off x="4236720" y="5504688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2" name="Text 120"/>
          <p:cNvSpPr/>
          <p:nvPr/>
        </p:nvSpPr>
        <p:spPr>
          <a:xfrm>
            <a:off x="4282440" y="5541264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 rebuild evidence</a:t>
            </a:r>
            <a:endParaRPr lang="en-US" sz="710" dirty="0"/>
          </a:p>
        </p:txBody>
      </p:sp>
      <p:sp>
        <p:nvSpPr>
          <p:cNvPr id="123" name="Shape 121"/>
          <p:cNvSpPr/>
          <p:nvPr/>
        </p:nvSpPr>
        <p:spPr>
          <a:xfrm>
            <a:off x="6664960" y="5504688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Text 122"/>
          <p:cNvSpPr/>
          <p:nvPr/>
        </p:nvSpPr>
        <p:spPr>
          <a:xfrm>
            <a:off x="6710680" y="5541264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25" name="Shape 123"/>
          <p:cNvSpPr/>
          <p:nvPr/>
        </p:nvSpPr>
        <p:spPr>
          <a:xfrm>
            <a:off x="7879080" y="5504688"/>
            <a:ext cx="2428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Text 124"/>
          <p:cNvSpPr/>
          <p:nvPr/>
        </p:nvSpPr>
        <p:spPr>
          <a:xfrm>
            <a:off x="7924800" y="5541264"/>
            <a:ext cx="233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contribution table</a:t>
            </a:r>
            <a:endParaRPr lang="en-US" sz="710" dirty="0"/>
          </a:p>
        </p:txBody>
      </p:sp>
      <p:sp>
        <p:nvSpPr>
          <p:cNvPr id="127" name="Shape 125"/>
          <p:cNvSpPr/>
          <p:nvPr/>
        </p:nvSpPr>
        <p:spPr>
          <a:xfrm>
            <a:off x="10307320" y="5504688"/>
            <a:ext cx="12141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5D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Text 126"/>
          <p:cNvSpPr/>
          <p:nvPr/>
        </p:nvSpPr>
        <p:spPr>
          <a:xfrm>
            <a:off x="10353040" y="5541264"/>
            <a:ext cx="1122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710" dirty="0"/>
          </a:p>
        </p:txBody>
      </p:sp>
      <p:sp>
        <p:nvSpPr>
          <p:cNvPr id="129" name="Text 127"/>
          <p:cNvSpPr/>
          <p:nvPr/>
        </p:nvSpPr>
        <p:spPr>
          <a:xfrm>
            <a:off x="594360" y="6327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No proof means no full marks for that part. Each member must answer questions about their own work.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464040" y="54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Q/A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8138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4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Questions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30352" y="950976"/>
            <a:ext cx="9509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Prepare every member for individual questions. Do not include this slide in the 12-slide limit.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1298448"/>
            <a:ext cx="1828800" cy="0"/>
          </a:xfrm>
          <a:prstGeom prst="line">
            <a:avLst/>
          </a:prstGeom>
          <a:noFill/>
          <a:ln w="3175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875520" y="566928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948672" y="64008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Appendix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85800" y="1417320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85800" y="1417320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5528" y="1499616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Anomaly Impact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832104" y="1892808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anomaly had the biggest business impact and why?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2478024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85800" y="2478024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95528" y="2560320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Detection Proof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832104" y="2953512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 SQL query proved the anomaly?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538728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85800" y="3538728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95528" y="3621024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Fix Logic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832104" y="4014216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PySpark logic fixed it?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599432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85800" y="4599432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95528" y="4681728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Rebuild Scope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832104" y="5074920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Gold tables were rebuilt and why?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1417320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63640" y="1417320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373368" y="1499616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Validation</a:t>
            </a:r>
            <a:endParaRPr lang="en-US" sz="920" dirty="0"/>
          </a:p>
        </p:txBody>
      </p:sp>
      <p:sp>
        <p:nvSpPr>
          <p:cNvPr id="30" name="Text 28"/>
          <p:cNvSpPr/>
          <p:nvPr/>
        </p:nvSpPr>
        <p:spPr>
          <a:xfrm>
            <a:off x="6409944" y="1892808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 was the before vs. after count?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63640" y="2478024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263640" y="2478024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373368" y="2560320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Dashboard Meaning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6409944" y="2953512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What does your BI dashboard say about campaign success?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63640" y="3538728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6263640" y="3538728"/>
            <a:ext cx="5212080" cy="34747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373368" y="3621024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Certainty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6409944" y="4014216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Why must Estimated Classified GMV not be mixed with Confirmed GMV?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63640" y="4599432"/>
            <a:ext cx="52120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6263640" y="4599432"/>
            <a:ext cx="5212080" cy="34747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373368" y="4681728"/>
            <a:ext cx="49926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Member Work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6409944" y="5074920"/>
            <a:ext cx="4919472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Which exact file, notebook, or query did you personally complete?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5800" y="5715000"/>
            <a:ext cx="107899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685800" y="5715000"/>
            <a:ext cx="10789920" cy="347472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" y="5797296"/>
            <a:ext cx="10570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FFFFFF"/>
                </a:solidFill>
              </a:rPr>
              <a:t>Final Reminder</a:t>
            </a:r>
            <a:endParaRPr lang="en-US" sz="920" dirty="0"/>
          </a:p>
        </p:txBody>
      </p:sp>
      <p:sp>
        <p:nvSpPr>
          <p:cNvPr id="46" name="Text 44"/>
          <p:cNvSpPr/>
          <p:nvPr/>
        </p:nvSpPr>
        <p:spPr>
          <a:xfrm>
            <a:off x="832104" y="6190488"/>
            <a:ext cx="10497312" cy="91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Every group must prove: what was built, what anomalies were found, how they were solved, what changed, and what the dashboard means for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Evidence Appendix — back-up proof (not part of the 12-slide deck)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475569"/>
                </a:solidFill>
                <a:latin typeface="Aptos"/>
              </a:rPr>
              <a:t>Every figure on the main slides traces to a live NEXAMART_MARTS view.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SQL evidence below is run live as NEXAMART_ENGINEER on NEXAMART_DW (rhxendw-yb24678), 24 Jun 2026.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BI dashboard pages are exported from nexamart_dashboard.pbix (Power BI).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/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Evidence map:  E1 schemas &amp; layers · E2 detection · E3 resolution · E4 validation · E5 reconciled KPIs · E6 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Architecture evidence — Bronze ingestion &amp; Gold Kimball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1_bro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1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80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Architecture evidence — Marts KPI views &amp; Silver anomaly flags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5_m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2_silver_fl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80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Anomaly resolution &amp; validation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3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4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80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Reconciled KPIs — GSV/NCR &amp; revenue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5_gsv_n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5577840" cy="3207258"/>
          </a:xfrm>
          <a:prstGeom prst="rect">
            <a:avLst/>
          </a:prstGeom>
        </p:spPr>
      </p:pic>
      <p:pic>
        <p:nvPicPr>
          <p:cNvPr id="10" name="Picture 9" descr="sf_e5_lea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54480"/>
            <a:ext cx="5577840" cy="320725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80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243584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Reconciled KPIs — Estimated Classified GMV (B6, kept separate)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sf_e5_estg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4647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024128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Sales by Channel (Executive KPIs: NCR, GSV, margin, payment-failure)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2_sales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024128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Inventory Health (ATP, stockout, oversell)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1_inventory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024128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Customer Journey (funnel, cart abandonment)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3_customer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024128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Customer Journey funnel (clickstream)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5_customer_journey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024128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BI Dashboard — NexaLocal &amp; Seller Quality (Estimated GMV, risk tiers)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D8E6FF"/>
                </a:solidFill>
                <a:latin typeface="Aptos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__EVIDENCE_APPENDIX__</a:t>
            </a:r>
          </a:p>
        </p:txBody>
      </p:sp>
      <p:pic>
        <p:nvPicPr>
          <p:cNvPr id="9" name="Picture 8" descr="04_nexalocal_seller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60813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024128"/>
            <a:ext cx="548640" cy="274320"/>
          </a:xfrm>
          <a:prstGeom prst="roundRect">
            <a:avLst/>
          </a:prstGeom>
          <a:solidFill>
            <a:srgbClr val="102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Member-Wise Breakdown - discovery -&gt; resolution -&gt; impact per member (back-up)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475569"/>
                </a:solidFill>
                <a:latin typeface="Aptos"/>
              </a:rPr>
              <a:t>Not part of the 12-slide presented deck. Each member presents their own 3 slides: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Discovery (detection, E2)  -&gt;  Resolution (fix, E3)  -&gt;  Impact (KPI / Rs, E5).</a:t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/>
            </a:r>
          </a:p>
          <a:p>
            <a:r>
              <a:rPr sz="1400">
                <a:solidFill>
                  <a:srgbClr val="475569"/>
                </a:solidFill>
                <a:latin typeface="Aptos"/>
              </a:rPr>
              <a:t>24 anomalies across 6 members:  Lead 9  -  Khallad 4  -  Azhar 4  -  Hamza 3  -  Sameen 2  -  Asad 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Arif Rubbani -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Lead - Infra &amp; Reconciliation  -  Roll L1F22BSDS0010  -  anomalies: A5, A7, A8, A12, A14, B1, B2, B3, B7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5 lookup dims + 8 facts (EC order line, fulfilment, inventory, web, complaint)   |   M2: 3 KPI views + validation C1/C2/C5/C7/C10 + orchestration + Dashboard P1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937760"/>
                <a:gridCol w="14630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Detection logic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A5  ATP positive, physical zero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atp_qty&gt;0 AND physical_qty=0  (5)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A7  Restock before inspection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inspection_status='PENDING' AND restocked_qty&gt;0  (10)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A8  Missing snapshot days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stores 3/7/12 x (1-7 Aug) absent from snapshots  (~21)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A12  Relisted after sold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self-join image_hash+seller, prior SOLD/EXPIRED -&gt; ACTIVE  (3 pairs)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A14  Courier clock drift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delivered_ts &lt; pickup_ts (strict)  (18)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B1  Campaign attribution bridge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126 promo-less in-window + prior BTS2024 UTM session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B2  Cross-period partial refund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Aug sale / Sep refund, 1 row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B3  Null-reference movements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175 PCK movements with NULL reference_number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B7  BOPIS scan miss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25 BOPIS DELIVERED with no BOPIS_COLLECTED scan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Arif Rubbani -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Lead - Infra &amp; Reconciliation  -  Roll L1F22BSDS0010  -  anomalies: A5, A7, A8, A12, A14, B1, B2, B3, B7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5 lookup dims + 8 facts (EC order line, fulfilment, inventory, web, complaint)   |   M2: 3 KPI views + validation C1/C2/C5/C7/C10 + orchestration + Dashboard P1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011680"/>
                <a:gridCol w="2926080"/>
                <a:gridCol w="19202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Before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Fix applied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After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A5  ATP positive, physical zero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CORRECTED_ATP_TO_ZERO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5 -&gt;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A7  Restock before inspection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ZEROED_RESTOCK_PRE_INSPECTION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10 -&gt; 0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A8  Missing snapshot days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~21 missing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RECONSTRUCTED_SNAPSHOT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~21 rebuilt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INFERRED, pre-campaign only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A12  Relisted after sold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3 pairs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LINKED_RELISTING_EXCLUDED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excl. from GMV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reliability LOW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A14  Courier clock drift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CORRECTED_DELIVERY_TS / ESCALATED (&gt;72h)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&lt;=72h fixed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on-time rate corrected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B1  Campaign attribution bridge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126 ambiguous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ATTRIBUTED 102 @ conf 0.85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102 attributed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certainty 0.85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B2  Cross-period partial refund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period ambiguity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RECOGNISE_IN_RETURN_PERIOD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both exposed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GAAP matching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B3  Null-reference movements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175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PROBABLE_MISSING_REF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back-fill lag, not shrinkage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B7  BOPIS scan miss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25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TREAT_AS_FULFILLED (+collection_unconfirmed)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excl. BOPIS SLA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~13% scan-miss baseline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Arif Rubbani -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Lead - Infra &amp; Reconciliation  -  Roll L1F22BSDS0010  -  anomalies: A5, A7, A8, A12, A14, B1, B2, B3, B7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5 lookup dims + 8 facts (EC order line, fulfilment, inventory, web, complaint)   |   M2: 3 KPI views + validation C1/C2/C5/C7/C10 + orchestration + Dashboard P1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2560320"/>
                <a:gridCol w="12801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Business impact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KPI / metric corrected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Certainty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A5  ATP positive, physical zero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oversell risk removed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vw_atp / stockout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A7  Restock before inspection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ATP inflation removed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vw_return_to_restock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A8  Missing snapshot days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allocation accuracy for 1-7 Aug ramp-up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inventory accuracy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A12  Relisted after sold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GMV double-count removed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vw_relisting_rate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A14  Courier clock drift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on-time delivery rate corrected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vw_on_time_delivery_rate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B1  Campaign attribution bridge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not attributing understates ~Rs 0.94 Cr 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vw_campaign_incremental_revenue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B2  Cross-period partial refund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original period cuts Aug NCR ~Rs 2.16 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NCR timing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B3  Null-reference movements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shrinkage reading overstates loss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inventory movements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B7  BOPIS scan miss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not-collected understates fulfilment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BOPIS readiness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Khallad Ahmad -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Customer Identity &amp; Seller Trust  -  Roll L1F22BSDS0020  -  anomalies: A11, B5, B6, B8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dim_customer (SCD2), dim_seller_risk_tier, fact_seller_performance_snapshot   |   M2: 8 NexaLocal/seller KPI views + validation C6/C9 (certainty) + Dashboard P5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937760"/>
                <a:gridCol w="14630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Detection logic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A11  Placeholder-ID collision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customer_id='9999' shared by guest + real loyalty  (178)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B5  Cross-channel identity merge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 cross-channel pair @ 0.92 confidence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B6  Estimated Classified GMV model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weighting choice for NL signals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B8  Seller trust score model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weighting choice for 8 trust signals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Khallad Ahmad -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Customer Identity &amp; Seller Trust  -  Roll L1F22BSDS0020  -  anomalies: A11, B5, B6, B8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dim_customer (SCD2), dim_seller_risk_tier, fact_seller_performance_snapshot   |   M2: 8 NexaLocal/seller KPI views + validation C6/C9 (certainty) + Dashboard P5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011680"/>
                <a:gridCol w="2926080"/>
                <a:gridCol w="19202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Before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Fix applied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After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A11  Placeholder-ID collision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178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REKEYED_GUEST_BUCKET (GUEST-{session})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178 -&gt;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B5  Cross-channel identity merge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 pair @0.92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MERGED (threshold &gt;=0.90)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merged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0.90 conservative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B6  Estimated Classified GMV model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weighting choice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weighted 0.60/0.15/0.08/0.30 + -/+35% band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ESTIMATED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C9: never in NCR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B8  Seller trust score model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weighting choice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weighted 8-signal -&gt; 5 tiers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tier label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not equal-weight (brief)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Khallad Ahmad -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Customer Identity &amp; Seller Trust  -  Roll L1F22BSDS0020  -  anomalies: A11, B5, B6, B8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dim_customer (SCD2), dim_seller_risk_tier, fact_seller_performance_snapshot   |   M2: 8 NexaLocal/seller KPI views + validation C6/C9 (certainty) + Dashboard P5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2560320"/>
                <a:gridCol w="12801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Business impact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KPI / metric corrected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Certainty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A11  Placeholder-ID collision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real customer profile de-collided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dim_customer integrity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B5  Cross-channel identity merge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0.70 over-merges distinct customers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dim_customer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B6  Estimated Classified GMV model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Rs 1.26 Cr point (band Rs 0.82-1.70 Cr)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vw_estimated_classified_gmv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ESTIMATED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B8  Seller trust score model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equal-weight unacceptable; 348 sellers LOW band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vw_seller_risk_score_distribution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Sameen Fatima -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Product Master &amp; Matching  -  Roll L1F21BSDS0004  -  anomalies: A9, B4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dim_product (SCD2, most-shared), dim_listing_condition   |   M2: vw_open_box_conversion_rate + validation C3 (grain) + supports Dashboard P2/P3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822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937760"/>
                <a:gridCol w="1463040"/>
                <a:gridCol w="2011680"/>
              </a:tblGrid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Detection logic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A9  SKU / product mismatch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silver_ts_seller_listings: listing 42 / NX-TECH-0001  (1)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B4  Catalogue fuzzy-match threshold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NexaLocal title -&gt; catalogue (rapidfuzz)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 (05)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Sameen Fatima -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Product Master &amp; Matching  -  Roll L1F21BSDS0004  -  anomalies: A9, B4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dim_product (SCD2, most-shared), dim_listing_condition   |   M2: vw_open_box_conversion_rate + validation C3 (grain) + supports Dashboard P2/P3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822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011680"/>
                <a:gridCol w="2926080"/>
                <a:gridCol w="1920240"/>
                <a:gridCol w="2011680"/>
              </a:tblGrid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Before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Fix applied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After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A9  SKU / product mismatch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APPLIED_CANONICAL_PRODUCT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1 -&gt;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B4  Catalogue fuzzy-match threshold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threshold call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MATCHED&gt;=0.75 / REVIEW 0.65-0.75 / UNMATCHED&lt;0.65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per-threshold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avoids false matches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Sameen Fatima -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Product Master &amp; Matching  -  Roll L1F21BSDS0004  -  anomalies: A9, B4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dim_product (SCD2, most-shared), dim_listing_condition   |   M2: vw_open_box_conversion_rate + validation C3 (grain) + supports Dashboard P2/P3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822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2560320"/>
                <a:gridCol w="1280160"/>
              </a:tblGrid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Business impact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KPI / metric corrected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Certainty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A9  SKU / product mismatch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category revenue corrected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product category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B4  Catalogue fuzzy-match threshold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alt: lower threshold injects mis-linked demand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demand signal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INFERRED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Asad Ali -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Inventory Health  -  Roll L1F22BSDS0030  -  anomalies: A6, A10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dim_store, fact_warehouse_inventory_snapshot   |   M2: 6 inventory KPI views (ATP, stockout, accuracy) + validation C4/C8 + Dashboard P3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822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937760"/>
                <a:gridCol w="1463040"/>
                <a:gridCol w="2011680"/>
              </a:tblGrid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Detection logic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A6  Negative store inventory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sellable_qty&lt;0 OR physical_qty&lt;0  (8)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A10  Open-box restocked as NEW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condition_on_receipt='OPENED' AND restocked_as_condition='NEW'  (12)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Asad Ali -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Inventory Health  -  Roll L1F22BSDS0030  -  anomalies: A6, A10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dim_store, fact_warehouse_inventory_snapshot   |   M2: 6 inventory KPI views (ATP, stockout, accuracy) + validation C4/C8 + Dashboard P3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822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011680"/>
                <a:gridCol w="2926080"/>
                <a:gridCol w="1920240"/>
                <a:gridCol w="2011680"/>
              </a:tblGrid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Before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Fix applied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After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A6  Negative store inventory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CORRECTED_ATP_TO_ZERO (+oversell flag)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8 -&gt;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A10  Open-box restocked as NEW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CORRECTED_CONDITION_OPEN_BOX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12 -&gt; 0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Asad Ali -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Inventory Health  -  Roll L1F22BSDS0030  -  anomalies: A6, A10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dim_store, fact_warehouse_inventory_snapshot   |   M2: 6 inventory KPI views (ATP, stockout, accuracy) + validation C4/C8 + Dashboard P3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8229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2560320"/>
                <a:gridCol w="1280160"/>
              </a:tblGrid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Business impact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KPI / metric corrected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Certainty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A6  Negative store inventory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stockout analysis fixed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vw_inventory_accuracy / oversell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1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A10  Open-box restocked as NEW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price premium quantified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vw_open_box_conversion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Hamza Asim -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Sales, Payments &amp; Returns  -  Roll L1F22BSDS0031  -  anomalies: A1, A2, A3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dim_promotion, fact_store_sale_line, fact_return_line (keystone EC fact rebuild)   |   M2: 6 Finance KPI views (GSV/NCR/leakage/payment-failure) + validation C4 + Dashboard P2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937760"/>
                <a:gridCol w="14630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Detection logic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  Cancelled order in revenue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order_status='CANCELLED' AND subtotal_excl_tax&gt;0  (94)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A2  Payment captured after cancel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captured PG txn (captured_ts) after earliest CANCELLED  (27)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A3  Mixed tax bases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POS incl-tax vs EC excl-tax basis differ (schema-wide)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PySpark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05 nb (E3)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Hamza Asim -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Sales, Payments &amp; Returns  -  Roll L1F22BSDS0031  -  anomalies: A1, A2, A3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dim_promotion, fact_store_sale_line, fact_return_line (keystone EC fact rebuild)   |   M2: 6 Finance KPI views (GSV/NCR/leakage/payment-failure) + validation C4 + Dashboard P2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011680"/>
                <a:gridCol w="2926080"/>
                <a:gridCol w="19202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Before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Fix applied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After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  Cancelled order in revenue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ZEROED_CANCELLED_REVENUE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94 -&gt;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-&gt; 0 (PASS)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A2  Payment captured after cancel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27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FLAGGED_REVERSAL_REQUIRED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27 excl. NCR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held as liability, not revenue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A3  Mixed tax bases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mixed bases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NORMALISED_TAX_EXCLUSIVE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one basis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cross-channel KPI reconciles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Hamza Asim -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Sales, Payments &amp; Returns  -  Roll L1F22BSDS0031  -  anomalies: A1, A2, A3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dim_promotion, fact_store_sale_line, fact_return_line (keystone EC fact rebuild)   |   M2: 6 Finance KPI views (GSV/NCR/leakage/payment-failure) + validation C4 + Dashboard P2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2560320"/>
                <a:gridCol w="12801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Business impact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KPI / metric corrected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Certainty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  Cancelled order in revenue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Rs 0.41 Cr (4.08M) over-count removed; deflated +34% claim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vw_revenue_leakage / NCR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A2  Payment captured after cancel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Rs 1.08 Cr reversal liability (excl. NCR)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NCR (excluded)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A3  Mixed tax bases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Rs 16.25 Cr put on a comparable basis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GSV/NCR cross-channel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Azhar Sajjad -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Reviews, Support &amp; Marketplace  -  Roll L1F22BSDS0021  -  anomalies: A4, A13, A15, A16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dim_seller, fact_customer_review, fact_classified_listing_event   |   M2: 4 customer-journey KPI views + assist C3/C9 + Dashboard P4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937760"/>
                <a:gridCol w="14630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Detection logic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 anchor="ctr" marL="45720" marR="45720" marT="18288" marB="18288">
                    <a:solidFill>
                      <a:srgbClr val="1F5E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A4  Seller-sold as confirmed rev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event_type_code='SELLER_SOLD'  (449)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A13  Image-hash fraud ring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image_hash shared by &gt;=2 seller accounts  (3 rings, 18 listings)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A15  Review before delivery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days_post_delivery &lt; 0  (25)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A16  Duplicate support cases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is_duplicate_flag=TRUE  (7)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Snowflake SQL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discovery.sql (E2)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Azhar Sajjad -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Reviews, Support &amp; Marketplace  -  Roll L1F22BSDS0021  -  anomalies: A4, A13, A15, A16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dim_seller, fact_customer_review, fact_classified_listing_event   |   M2: 4 customer-journey KPI views + assist C3/C9 + Dashboard P4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2011680"/>
                <a:gridCol w="2926080"/>
                <a:gridCol w="19202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Before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Fix applied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After fix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 anchor="ctr" marL="45720" marR="45720" marT="18288" marB="18288">
                    <a:solidFill>
                      <a:srgbClr val="2E7D3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A4  Seller-sold as confirmed rev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449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RELABELLED_ESTIMATED_GMV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449 -&gt; 0 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feeds B6 at weight 0.60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A13  Image-hash fraud ring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3 rings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FLAGGED_FRAUD_RING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rings flagged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trust &amp; safety review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A15  Review before delivery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25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SET_VERIFIED_PURCHASE_FALSE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25 -&gt; unverified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recheck (PASS)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A16  Duplicate support cases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DEDUPED_CANONICAL_CASE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7 -&gt; deduped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distinct incidents only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3E"/>
          </a:solidFill>
          <a:ln w="12700">
            <a:solidFill>
              <a:srgbClr val="1024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20040" y="6693408"/>
            <a:ext cx="5029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D8E6FF"/>
                </a:solidFill>
              </a:rPr>
              <a:t>NexaMart EDW · Milestone 2</a:t>
            </a:r>
            <a:endParaRPr lang="en-US" sz="68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243E"/>
                </a:solidFill>
                <a:latin typeface="Aptos Display"/>
              </a:rPr>
              <a:t>Azhar Sajjad -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6576"/>
            <a:ext cx="26060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80" b="1">
                <a:solidFill>
                  <a:srgbClr val="D8E6FF"/>
                </a:solidFill>
                <a:latin typeface="Aptos"/>
              </a:rPr>
              <a:t>Member - M6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6720840"/>
            <a:ext cx="1828800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">
                <a:solidFill>
                  <a:srgbClr val="EEEEEE"/>
                </a:solidFill>
              </a:rPr>
              <a:t>__MEMBER_SECTION__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93268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75569"/>
                </a:solidFill>
                <a:latin typeface="Aptos"/>
              </a:rPr>
              <a:t>Reviews, Support &amp; Marketplace  -  Roll L1F22BSDS0021  -  anomalies: A4, A13, A15, A16</a:t>
            </a:r>
          </a:p>
          <a:p>
            <a:r>
              <a:rPr sz="1000">
                <a:solidFill>
                  <a:srgbClr val="475569"/>
                </a:solidFill>
                <a:latin typeface="Aptos"/>
              </a:rPr>
              <a:t>M1 built: dim_seller, fact_customer_review, fact_classified_listing_event   |   M2: 4 customer-journey KPI views + assist C3/C9 + Dashboard P4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72768"/>
          <a:ext cx="113385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754880"/>
                <a:gridCol w="2560320"/>
                <a:gridCol w="12801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Anomaly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Business impact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KPI / metric corrected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Certainty</a:t>
                      </a:r>
                    </a:p>
                  </a:txBody>
                  <a:tcPr anchor="ctr" marL="45720" marR="45720" marT="18288" marB="18288">
                    <a:solidFill>
                      <a:srgbClr val="1024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A4  Seller-sold as confirmed rev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Rs 1.72 Cr moved out of Confirmed to ESTIMATED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 GMV -&gt; ESTIMATED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ESTIMATED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A13  Image-hash fraud ring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coordinated listing ring surfaced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vw_validated_report_rate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A15  Review before delivery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review-score KPI corrected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review score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A16  Duplicate support cases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complaint volume corrected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complaint volume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Aptos"/>
                        </a:rPr>
                        <a:t>CONFIRMED</a:t>
                      </a:r>
                    </a:p>
                  </a:txBody>
                  <a:tcPr anchor="ctr" marL="45720" marR="45720" marT="18288" marB="18288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2655</Words>
  <Application>Microsoft Office PowerPoint</Application>
  <PresentationFormat>Widescreen</PresentationFormat>
  <Paragraphs>575</Paragraphs>
  <Slides>24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ACT Department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NexaMart Enterprise Data Warehouse - Milestone 2</dc:title>
  <dc:subject/>
  <dc:creator>Group Arif</dc:creator>
  <cp:keywords/>
  <dc:description/>
  <cp:lastModifiedBy>ARIF rb</cp:lastModifiedBy>
  <cp:revision>4</cp:revision>
  <dcterms:created xsi:type="dcterms:W3CDTF">2026-06-23T10:32:22Z</dcterms:created>
  <dcterms:modified xsi:type="dcterms:W3CDTF">2026-06-23T21:14:31Z</dcterms:modified>
  <cp:category/>
</cp:coreProperties>
</file>